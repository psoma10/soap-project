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embeddedFontLst>
    <p:embeddedFont>
      <p:font typeface="Public Sans" pitchFamily="34" charset="0"/>
      <p:regular r:id="rId20"/>
    </p:embeddedFont>
    <p:embeddedFont>
      <p:font typeface="Public Sans" pitchFamily="34" charset="-122"/>
      <p:regular r:id="rId21"/>
    </p:embeddedFont>
    <p:embeddedFont>
      <p:font typeface="Public Sans" pitchFamily="34" charset="-12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web app that lets students and campus guests pre-order from two canteen kitchens and collect without queueing. This review covers three things: how the system is designed, the methodology used to build it, and why the design is technically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parts the review asked for: how the project is designed, which methodology was followed, and why the result is technically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The React and Vite single-page app serves students, guests and admins. The Hono API is split into route modules for auth, menu, orders, guest and admin, each backed by its own service, with auth, rate limiting and HMAC verification as middleware. Data lives in PostgreSQL through Prisma, and a Durable Object SSE hub pushes live events to clients. Frontend and backend deploy independently, and the backend runs on Cloudflare Workers or Render from one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access is the backbone of the design. Students have accounts, guests order through a campus QR without any account, kitchen admins run the live order board for their kitchen, and the superadmin oversees both kitchens with a full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order end to end. A mixed cart is split into one order per kitchen, stock is reserved atomically, the kitchen sees the order live, and pickup is verified with a signed QR token. Cancellations and expiries release the reservation idempotently.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data model. Red entities cover identity and audit, dark entities the order transaction, teal entities the catalogue. Stock and reserved quantity sit on the menu item, which is what the reservation logic updates conditionally. Every privileged action is written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followed an iterative, incremental approach rather than a strict waterfall. Requirements and design come first, then backend and frontend are built in overlapping phases, realtime and stock handling follow, and integration testing precedes deployment and review. Week numbers follow the nine-step timeline from the earlier review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has concrete practices. Analysis is grounded in a literature survey and gap analysis. Design fixes the service boundaries, data model and stock rules. Build runs backend and frontend in parallel with an automated test suite, including a concurrency test. Deployment keeps the two sides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of one order. The API reserves stock with a single conditional update: if no row was updated, the item is already gone and the order is rejected, so overselling cannot happen even with simultaneous requests. The order is then saved per kitchen, and an event is published to the SSE hub, which pushes to the kitchen board and the customer app without polling.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known risk in a campus ordering system has a specific design decision and a piece of evidence. The strongest points are the reservation-based stock model, which prevents overselling, and the idempotent release path, which keeps stock correct when cancellations race the expiry sweeper.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Guest orders need a pickup proof that cannot be guessed. The token carries a magic prefix, an expiry and an HMAC signature, and it is checked in constant time before the database is touched, so forged or expired tokens are rejected cheaply. Rate limits are keyed by identity per route prefix rather than by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evidence for technical soundness: an automated backend suite of more than 115 tests, verification at 200+ concurrent requests and 1000+ registered users to match campus scale, two independently deployable runtimes, and a dedicated concurrency test on stock reservation.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that the system addresses each gap from the literature survey. Future scope items are proposals, not commitments: payments, push notifications, analytics and a mobile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4"/>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08930"/>
          </a:xfrm>
          <a:prstGeom prst="rect">
            <a:avLst/>
          </a:prstGeom>
          <a:noFill/>
        </p:spPr>
        <p:txBody>
          <a:bodyPr wrap="square" lIns="0" tIns="0" rIns="0" bIns="0" rtlCol="0" anchor="t"/>
          <a:lstStyle>
            <a:lvl1pPr marL="0" indent="0" algn="l">
              <a:lnSpc>
                <a:spcPct val="115000"/>
              </a:lnSpc>
              <a:buNone/>
              <a:defRPr lang="en-US" sz="2800" dirty="0">
                <a:solidFill>
                  <a:srgbClr val="1F24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2800" dirty="0"/>
          </a:p>
        </p:txBody>
      </p:sp>
      <p:sp>
        <p:nvSpPr>
          <p:cNvPr id="3" name="Text Placeholder 2"/>
          <p:cNvSpPr/>
          <p:nvPr>
            <p:ph type="body" idx="101"/>
          </p:nvPr>
        </p:nvSpPr>
        <p:spPr>
          <a:xfrm>
            <a:off x="812800" y="1790650"/>
            <a:ext cx="10566400" cy="4254550"/>
          </a:xfrm>
          <a:prstGeom prst="rect">
            <a:avLst/>
          </a:prstGeom>
          <a:noFill/>
        </p:spPr>
        <p:txBody>
          <a:bodyPr wrap="square" lIns="0" tIns="0" rIns="0" bIns="0" rtlCol="0" anchor="t"/>
          <a:lstStyle>
            <a:lvl1pPr marL="0" indent="0" algn="l">
              <a:lnSpc>
                <a:spcPct val="140000"/>
              </a:lnSpc>
              <a:buNone/>
              <a:defRPr lang="en-US" sz="1600" dirty="0">
                <a:solidFill>
                  <a:srgbClr val="1F24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08930"/>
          </a:xfrm>
          <a:prstGeom prst="rect">
            <a:avLst/>
          </a:prstGeom>
          <a:noFill/>
        </p:spPr>
        <p:txBody>
          <a:bodyPr wrap="square" lIns="0" tIns="0" rIns="0" bIns="0" rtlCol="0" anchor="t"/>
          <a:lstStyle>
            <a:lvl1pPr marL="0" indent="0" algn="l">
              <a:lnSpc>
                <a:spcPct val="115000"/>
              </a:lnSpc>
              <a:buNone/>
              <a:defRPr lang="en-US" sz="2800" dirty="0">
                <a:solidFill>
                  <a:srgbClr val="1F24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2800" dirty="0"/>
          </a:p>
        </p:txBody>
      </p:sp>
      <p:sp>
        <p:nvSpPr>
          <p:cNvPr id="3" name="Text Placeholder 2"/>
          <p:cNvSpPr/>
          <p:nvPr>
            <p:ph type="body" idx="101"/>
          </p:nvPr>
        </p:nvSpPr>
        <p:spPr>
          <a:xfrm>
            <a:off x="812800" y="1790650"/>
            <a:ext cx="10566400" cy="4254550"/>
          </a:xfrm>
          <a:prstGeom prst="rect">
            <a:avLst/>
          </a:prstGeom>
          <a:noFill/>
        </p:spPr>
        <p:txBody>
          <a:bodyPr wrap="square" lIns="0" tIns="0" rIns="0" bIns="0" rtlCol="0" anchor="t"/>
          <a:lstStyle>
            <a:lvl1pPr marL="0" indent="0" algn="l">
              <a:lnSpc>
                <a:spcPct val="140000"/>
              </a:lnSpc>
              <a:buNone/>
              <a:defRPr lang="en-US" sz="1600" dirty="0">
                <a:solidFill>
                  <a:srgbClr val="1F24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2.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430"/>
        </a:solidFill>
        <a:effectLst/>
      </p:bgPr>
    </p:bg>
    <p:spTree>
      <p:nvGrpSpPr>
        <p:cNvPr id="1" name=""/>
        <p:cNvGrpSpPr/>
        <p:nvPr/>
      </p:nvGrpSpPr>
      <p:grpSpPr>
        <a:xfrm>
          <a:off x="0" y="0"/>
          <a:ext cx="0" cy="0"/>
          <a:chOff x="0" y="0"/>
          <a:chExt cx="0" cy="0"/>
        </a:xfrm>
      </p:grpSpPr>
      <p:sp>
        <p:nvSpPr>
          <p:cNvPr id="2" name="Shape 0"/>
          <p:cNvSpPr/>
          <p:nvPr/>
        </p:nvSpPr>
        <p:spPr>
          <a:xfrm>
            <a:off x="8077200" y="609600"/>
            <a:ext cx="3302000" cy="1371600"/>
          </a:xfrm>
          <a:prstGeom prst="roundRect">
            <a:avLst>
              <a:gd name="adj" fmla="val 11111"/>
            </a:avLst>
          </a:prstGeom>
          <a:solidFill>
            <a:srgbClr val="FFFFFF"/>
          </a:solidFill>
        </p:spPr>
      </p:sp>
      <p:pic>
        <p:nvPicPr>
          <p:cNvPr id="3" name="Image 0" descr="KLH Deemed to be University logo"/>
          <p:cNvPicPr>
            <a:picLocks noChangeAspect="1"/>
          </p:cNvPicPr>
          <p:nvPr/>
        </p:nvPicPr>
        <p:blipFill>
          <a:blip r:embed="rId1"/>
          <a:srcRect l="-8495" r="-8495"/>
          <a:stretch>
            <a:fillRect/>
          </a:stretch>
        </p:blipFill>
        <p:spPr>
          <a:xfrm>
            <a:off x="8229600" y="762000"/>
            <a:ext cx="2997200" cy="1066800"/>
          </a:xfrm>
          <a:prstGeom prst="rect">
            <a:avLst/>
          </a:prstGeom>
        </p:spPr>
      </p:pic>
      <p:sp>
        <p:nvSpPr>
          <p:cNvPr id="4" name="Text 1"/>
          <p:cNvSpPr/>
          <p:nvPr/>
        </p:nvSpPr>
        <p:spPr>
          <a:xfrm>
            <a:off x="812800" y="1456730"/>
            <a:ext cx="10883392" cy="27429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F08A8D"/>
                </a:solidFill>
                <a:latin typeface="Public Sans" pitchFamily="34" charset="0"/>
                <a:ea typeface="Public Sans" pitchFamily="34" charset="-122"/>
                <a:cs typeface="Public Sans" pitchFamily="34" charset="-120"/>
              </a:rPr>
              <a:t>SOA PROJECT REVIEW</a:t>
            </a:r>
            <a:endParaRPr lang="en-US" sz="1400" dirty="0"/>
          </a:p>
        </p:txBody>
      </p:sp>
      <p:sp>
        <p:nvSpPr>
          <p:cNvPr id="5" name="Text 2"/>
          <p:cNvSpPr/>
          <p:nvPr>
            <p:ph type="title"/>
          </p:nvPr>
        </p:nvSpPr>
        <p:spPr>
          <a:xfrm>
            <a:off x="812800" y="1908820"/>
            <a:ext cx="10883392" cy="2128490"/>
          </a:xfrm>
          <a:prstGeom prst="rect">
            <a:avLst/>
          </a:prstGeom>
          <a:noFill/>
        </p:spPr>
        <p:txBody>
          <a:bodyPr wrap="square" lIns="0" tIns="0" rIns="0" bIns="0" rtlCol="0" anchor="t">
            <a:normAutofit/>
          </a:bodyPr>
          <a:lstStyle/>
          <a:p>
            <a:pPr marL="0" indent="0" algn="l">
              <a:lnSpc>
                <a:spcPts val="5520"/>
              </a:lnSpc>
              <a:buNone/>
            </a:pPr>
            <a:r>
              <a:rPr lang="en-US" sz="4800" b="1" i="0" dirty="0">
                <a:solidFill>
                  <a:srgbClr val="FFFFFF"/>
                </a:solidFill>
                <a:latin typeface="Libre Baskerville" pitchFamily="34" charset="0"/>
                <a:ea typeface="Libre Baskerville" pitchFamily="34" charset="-122"/>
                <a:cs typeface="Libre Baskerville" pitchFamily="34" charset="-120"/>
              </a:rPr>
              <a:t>College Canteen</a:t>
            </a:r>
            <a:endParaRPr lang="en-US" sz="4800" dirty="0"/>
          </a:p>
          <a:p>
            <a:pPr marL="0" indent="0" algn="l">
              <a:lnSpc>
                <a:spcPts val="5520"/>
              </a:lnSpc>
              <a:buNone/>
            </a:pPr>
            <a:r>
              <a:rPr lang="en-US" sz="4800" b="1" i="0" dirty="0">
                <a:solidFill>
                  <a:srgbClr val="FFFFFF"/>
                </a:solidFill>
                <a:latin typeface="Libre Baskerville" pitchFamily="34" charset="0"/>
                <a:ea typeface="Libre Baskerville" pitchFamily="34" charset="-122"/>
                <a:cs typeface="Libre Baskerville" pitchFamily="34" charset="-120"/>
              </a:rPr>
              <a:t>Food Pre-Ordering</a:t>
            </a:r>
            <a:endParaRPr lang="en-US" sz="4800" dirty="0"/>
          </a:p>
          <a:p>
            <a:pPr marL="0" indent="0" algn="l">
              <a:lnSpc>
                <a:spcPts val="5520"/>
              </a:lnSpc>
              <a:buNone/>
            </a:pPr>
            <a:r>
              <a:rPr lang="en-US" sz="4800" b="1" i="0" dirty="0">
                <a:solidFill>
                  <a:srgbClr val="FFFFFF"/>
                </a:solidFill>
                <a:latin typeface="Libre Baskerville" pitchFamily="34" charset="0"/>
                <a:ea typeface="Libre Baskerville" pitchFamily="34" charset="-122"/>
                <a:cs typeface="Libre Baskerville" pitchFamily="34" charset="-120"/>
              </a:rPr>
              <a:t>Web Application</a:t>
            </a:r>
            <a:endParaRPr lang="en-US" sz="4800" dirty="0"/>
          </a:p>
        </p:txBody>
      </p:sp>
      <p:sp>
        <p:nvSpPr>
          <p:cNvPr id="6" name="Text 3"/>
          <p:cNvSpPr/>
          <p:nvPr/>
        </p:nvSpPr>
        <p:spPr>
          <a:xfrm>
            <a:off x="812800" y="4215110"/>
            <a:ext cx="10883392" cy="345430"/>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D9D2CA"/>
                </a:solidFill>
                <a:latin typeface="Public Sans" pitchFamily="34" charset="0"/>
                <a:ea typeface="Public Sans" pitchFamily="34" charset="-122"/>
                <a:cs typeface="Public Sans" pitchFamily="34" charset="-120"/>
              </a:rPr>
              <a:t>Project design, methodology adopted and technical soundness</a:t>
            </a:r>
            <a:endParaRPr lang="en-US" sz="1800" dirty="0"/>
          </a:p>
        </p:txBody>
      </p:sp>
      <p:sp>
        <p:nvSpPr>
          <p:cNvPr id="7" name="Text 4"/>
          <p:cNvSpPr/>
          <p:nvPr/>
        </p:nvSpPr>
        <p:spPr>
          <a:xfrm>
            <a:off x="812800" y="4839940"/>
            <a:ext cx="1238498" cy="358130"/>
          </a:xfrm>
          <a:prstGeom prst="roundRect">
            <a:avLst>
              <a:gd name="adj" fmla="val 50000"/>
            </a:avLst>
          </a:prstGeom>
          <a:solidFill>
            <a:srgbClr val="B30D12"/>
          </a:solidFill>
        </p:spPr>
        <p:txBody>
          <a:bodyPr wrap="none" lIns="0" tIns="0" rIns="0" bIns="0" rtlCol="0" anchor="ctr">
            <a:normAutofit/>
          </a:bodyPr>
          <a:lstStyle/>
          <a:p>
            <a:pPr marL="0" indent="0" algn="ctr">
              <a:lnSpc>
                <a:spcPts val="1820"/>
              </a:lnSpc>
              <a:buNone/>
            </a:pPr>
            <a:r>
              <a:rPr lang="en-US" sz="1300" b="1" dirty="0">
                <a:solidFill>
                  <a:srgbClr val="FFFFFF"/>
                </a:solidFill>
                <a:latin typeface="Public Sans" pitchFamily="34" charset="0"/>
                <a:ea typeface="Public Sans" pitchFamily="34" charset="-122"/>
                <a:cs typeface="Public Sans" pitchFamily="34" charset="-120"/>
              </a:rPr>
              <a:t>React + Vite</a:t>
            </a:r>
            <a:endParaRPr lang="en-US" sz="1300" dirty="0"/>
          </a:p>
        </p:txBody>
      </p:sp>
      <p:sp>
        <p:nvSpPr>
          <p:cNvPr id="8" name="Text 5"/>
          <p:cNvSpPr/>
          <p:nvPr/>
        </p:nvSpPr>
        <p:spPr>
          <a:xfrm>
            <a:off x="2152898" y="4839940"/>
            <a:ext cx="1027063" cy="358130"/>
          </a:xfrm>
          <a:prstGeom prst="roundRect">
            <a:avLst>
              <a:gd name="adj" fmla="val 50000"/>
            </a:avLst>
          </a:prstGeom>
          <a:solidFill>
            <a:srgbClr val="343B4C"/>
          </a:solidFill>
        </p:spPr>
        <p:txBody>
          <a:bodyPr wrap="none" lIns="0" tIns="0" rIns="0" bIns="0" rtlCol="0" anchor="ctr">
            <a:normAutofit/>
          </a:bodyPr>
          <a:lstStyle/>
          <a:p>
            <a:pPr marL="0" indent="0" algn="ctr">
              <a:lnSpc>
                <a:spcPts val="1820"/>
              </a:lnSpc>
              <a:buNone/>
            </a:pPr>
            <a:r>
              <a:rPr lang="en-US" sz="1300" b="1" dirty="0">
                <a:solidFill>
                  <a:srgbClr val="F3EEE8"/>
                </a:solidFill>
                <a:latin typeface="Public Sans" pitchFamily="34" charset="0"/>
                <a:ea typeface="Public Sans" pitchFamily="34" charset="-122"/>
                <a:cs typeface="Public Sans" pitchFamily="34" charset="-120"/>
              </a:rPr>
              <a:t>Hono API</a:t>
            </a:r>
            <a:endParaRPr lang="en-US" sz="1300" dirty="0"/>
          </a:p>
        </p:txBody>
      </p:sp>
      <p:sp>
        <p:nvSpPr>
          <p:cNvPr id="9" name="Text 6"/>
          <p:cNvSpPr/>
          <p:nvPr/>
        </p:nvSpPr>
        <p:spPr>
          <a:xfrm>
            <a:off x="3281561" y="4839940"/>
            <a:ext cx="1961505" cy="358130"/>
          </a:xfrm>
          <a:prstGeom prst="roundRect">
            <a:avLst>
              <a:gd name="adj" fmla="val 50000"/>
            </a:avLst>
          </a:prstGeom>
          <a:solidFill>
            <a:srgbClr val="343B4C"/>
          </a:solidFill>
        </p:spPr>
        <p:txBody>
          <a:bodyPr wrap="none" lIns="0" tIns="0" rIns="0" bIns="0" rtlCol="0" anchor="ctr">
            <a:normAutofit/>
          </a:bodyPr>
          <a:lstStyle/>
          <a:p>
            <a:pPr marL="0" indent="0" algn="ctr">
              <a:lnSpc>
                <a:spcPts val="1820"/>
              </a:lnSpc>
              <a:buNone/>
            </a:pPr>
            <a:r>
              <a:rPr lang="en-US" sz="1300" b="1" dirty="0">
                <a:solidFill>
                  <a:srgbClr val="F3EEE8"/>
                </a:solidFill>
                <a:latin typeface="Public Sans" pitchFamily="34" charset="0"/>
                <a:ea typeface="Public Sans" pitchFamily="34" charset="-122"/>
                <a:cs typeface="Public Sans" pitchFamily="34" charset="-120"/>
              </a:rPr>
              <a:t>PostgreSQL + Prisma</a:t>
            </a:r>
            <a:endParaRPr lang="en-US" sz="1300" dirty="0"/>
          </a:p>
        </p:txBody>
      </p:sp>
      <p:sp>
        <p:nvSpPr>
          <p:cNvPr id="10" name="Text 7"/>
          <p:cNvSpPr/>
          <p:nvPr/>
        </p:nvSpPr>
        <p:spPr>
          <a:xfrm>
            <a:off x="5344666" y="4839940"/>
            <a:ext cx="1806277" cy="358130"/>
          </a:xfrm>
          <a:prstGeom prst="roundRect">
            <a:avLst>
              <a:gd name="adj" fmla="val 50000"/>
            </a:avLst>
          </a:prstGeom>
          <a:solidFill>
            <a:srgbClr val="343B4C"/>
          </a:solidFill>
        </p:spPr>
        <p:txBody>
          <a:bodyPr wrap="none" lIns="0" tIns="0" rIns="0" bIns="0" rtlCol="0" anchor="ctr">
            <a:normAutofit/>
          </a:bodyPr>
          <a:lstStyle/>
          <a:p>
            <a:pPr marL="0" indent="0" algn="ctr">
              <a:lnSpc>
                <a:spcPts val="1820"/>
              </a:lnSpc>
              <a:buNone/>
            </a:pPr>
            <a:r>
              <a:rPr lang="en-US" sz="1300" b="1" dirty="0">
                <a:solidFill>
                  <a:srgbClr val="F3EEE8"/>
                </a:solidFill>
                <a:latin typeface="Public Sans" pitchFamily="34" charset="0"/>
                <a:ea typeface="Public Sans" pitchFamily="34" charset="-122"/>
                <a:cs typeface="Public Sans" pitchFamily="34" charset="-120"/>
              </a:rPr>
              <a:t>Server-Sent Events</a:t>
            </a:r>
            <a:endParaRPr lang="en-US" sz="1300" dirty="0"/>
          </a:p>
        </p:txBody>
      </p:sp>
      <p:sp>
        <p:nvSpPr>
          <p:cNvPr id="11" name="Text 8"/>
          <p:cNvSpPr/>
          <p:nvPr/>
        </p:nvSpPr>
        <p:spPr>
          <a:xfrm>
            <a:off x="812800" y="5972175"/>
            <a:ext cx="11073130" cy="56134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C9C3BC"/>
                </a:solidFill>
                <a:latin typeface="Public Sans" pitchFamily="34" charset="0"/>
                <a:ea typeface="Public Sans" pitchFamily="34" charset="-122"/>
                <a:cs typeface="Public Sans" pitchFamily="34" charset="-120"/>
              </a:rPr>
              <a:t>Presented by: </a:t>
            </a:r>
            <a:r>
              <a:rPr lang="en-US" altLang="en-US" sz="1200" dirty="0">
                <a:solidFill>
                  <a:srgbClr val="C9C3BC"/>
                </a:solidFill>
                <a:latin typeface="Public Sans" pitchFamily="34" charset="0"/>
                <a:ea typeface="Public Sans" pitchFamily="34" charset="-122"/>
                <a:cs typeface="Public Sans" pitchFamily="34" charset="-120"/>
              </a:rPr>
              <a:t> Pujith krishna Soma ( </a:t>
            </a:r>
            <a:r>
              <a:rPr lang="en-US" altLang="en-US" sz="1200" dirty="0">
                <a:solidFill>
                  <a:srgbClr val="C9C3BC"/>
                </a:solidFill>
                <a:latin typeface="Public Sans" pitchFamily="34" charset="0"/>
                <a:ea typeface="Public Sans" pitchFamily="34" charset="-122"/>
                <a:cs typeface="Public Sans" pitchFamily="34" charset="-120"/>
                <a:sym typeface="+mn-ea"/>
              </a:rPr>
              <a:t>2420090069  ), </a:t>
            </a:r>
            <a:r>
              <a:rPr lang="en-US" altLang="en-US" sz="1200" dirty="0">
                <a:solidFill>
                  <a:srgbClr val="C9C3BC"/>
                </a:solidFill>
                <a:latin typeface="Public Sans" pitchFamily="34" charset="0"/>
                <a:ea typeface="Public Sans" pitchFamily="34" charset="-122"/>
                <a:cs typeface="Public Sans" pitchFamily="34" charset="-120"/>
              </a:rPr>
              <a:t>Ch. Bharath Varma ( </a:t>
            </a:r>
            <a:r>
              <a:rPr lang="en-US" altLang="en-US" sz="1200" dirty="0">
                <a:solidFill>
                  <a:srgbClr val="C9C3BC"/>
                </a:solidFill>
                <a:latin typeface="Public Sans" pitchFamily="34" charset="0"/>
                <a:ea typeface="Public Sans" pitchFamily="34" charset="-122"/>
                <a:cs typeface="Public Sans" pitchFamily="34" charset="-120"/>
                <a:sym typeface="+mn-ea"/>
              </a:rPr>
              <a:t>2420090068 ),  </a:t>
            </a:r>
            <a:r>
              <a:rPr lang="en-US" altLang="en-US" sz="1200" dirty="0">
                <a:solidFill>
                  <a:srgbClr val="C9C3BC"/>
                </a:solidFill>
                <a:latin typeface="Public Sans" pitchFamily="34" charset="0"/>
                <a:ea typeface="Public Sans" pitchFamily="34" charset="-122"/>
                <a:cs typeface="Public Sans" pitchFamily="34" charset="-120"/>
              </a:rPr>
              <a:t>Y Sriram ( </a:t>
            </a:r>
            <a:r>
              <a:rPr lang="en-US" altLang="en-US" sz="1200" dirty="0">
                <a:solidFill>
                  <a:srgbClr val="C9C3BC"/>
                </a:solidFill>
                <a:latin typeface="Public Sans" pitchFamily="34" charset="0"/>
                <a:ea typeface="Public Sans" pitchFamily="34" charset="-122"/>
                <a:cs typeface="Public Sans" pitchFamily="34" charset="-120"/>
                <a:sym typeface="+mn-ea"/>
              </a:rPr>
              <a:t>2420090148 ), </a:t>
            </a:r>
            <a:r>
              <a:rPr lang="en-US" altLang="en-US" sz="1200" dirty="0">
                <a:solidFill>
                  <a:srgbClr val="C9C3BC"/>
                </a:solidFill>
                <a:latin typeface="Public Sans" pitchFamily="34" charset="0"/>
                <a:ea typeface="Public Sans" pitchFamily="34" charset="-122"/>
                <a:cs typeface="Public Sans" pitchFamily="34" charset="-120"/>
              </a:rPr>
              <a:t>R Sai Sidhartha ( </a:t>
            </a:r>
            <a:r>
              <a:rPr lang="en-US" altLang="en-US" sz="1200" dirty="0">
                <a:solidFill>
                  <a:srgbClr val="C9C3BC"/>
                </a:solidFill>
                <a:latin typeface="Public Sans" pitchFamily="34" charset="0"/>
                <a:ea typeface="Public Sans" pitchFamily="34" charset="-122"/>
                <a:cs typeface="Public Sans" pitchFamily="34" charset="-120"/>
                <a:sym typeface="+mn-ea"/>
              </a:rPr>
              <a:t>2400032486 )</a:t>
            </a:r>
            <a:br>
              <a:rPr lang="en-US" altLang="en-US" sz="1200" dirty="0">
                <a:solidFill>
                  <a:srgbClr val="C9C3BC"/>
                </a:solidFill>
                <a:latin typeface="Public Sans" pitchFamily="34" charset="0"/>
                <a:ea typeface="Public Sans" pitchFamily="34" charset="-122"/>
                <a:cs typeface="Public Sans" pitchFamily="34" charset="-120"/>
                <a:sym typeface="+mn-ea"/>
              </a:rPr>
            </a:br>
            <a:r>
              <a:rPr lang="en-US" sz="1200" dirty="0">
                <a:solidFill>
                  <a:srgbClr val="C9C3BC"/>
                </a:solidFill>
                <a:latin typeface="Public Sans" pitchFamily="34" charset="0"/>
                <a:ea typeface="Public Sans" pitchFamily="34" charset="-122"/>
                <a:cs typeface="Public Sans" pitchFamily="34" charset="-120"/>
              </a:rPr>
              <a:t>· Guide: [Ms Navyatha Ravi]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REVIEW AGENDA</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Three parts of this review</a:t>
            </a:r>
            <a:endParaRPr lang="en-US" sz="2800" dirty="0"/>
          </a:p>
        </p:txBody>
      </p:sp>
      <p:sp>
        <p:nvSpPr>
          <p:cNvPr id="5" name="Shape 2"/>
          <p:cNvSpPr/>
          <p:nvPr/>
        </p:nvSpPr>
        <p:spPr>
          <a:xfrm>
            <a:off x="815975" y="1692225"/>
            <a:ext cx="3380284" cy="4146600"/>
          </a:xfrm>
          <a:prstGeom prst="roundRect">
            <a:avLst>
              <a:gd name="adj" fmla="val 3663"/>
            </a:avLst>
          </a:prstGeom>
          <a:solidFill>
            <a:srgbClr val="FFFFFF"/>
          </a:solidFill>
          <a:ln w="6350">
            <a:solidFill>
              <a:srgbClr val="E6DFD8"/>
            </a:solidFill>
            <a:prstDash val="solid"/>
          </a:ln>
        </p:spPr>
      </p:sp>
      <p:sp>
        <p:nvSpPr>
          <p:cNvPr id="6" name="Text 3"/>
          <p:cNvSpPr/>
          <p:nvPr/>
        </p:nvSpPr>
        <p:spPr>
          <a:xfrm>
            <a:off x="1123950" y="2000200"/>
            <a:ext cx="2847264" cy="640060"/>
          </a:xfrm>
          <a:prstGeom prst="rect">
            <a:avLst/>
          </a:prstGeom>
          <a:noFill/>
        </p:spPr>
        <p:txBody>
          <a:bodyPr wrap="square" lIns="0" tIns="0" rIns="0" bIns="0" rtlCol="0" anchor="t">
            <a:normAutofit/>
          </a:bodyPr>
          <a:lstStyle/>
          <a:p>
            <a:pPr marL="0" indent="0" algn="l">
              <a:lnSpc>
                <a:spcPts val="4840"/>
              </a:lnSpc>
              <a:buNone/>
            </a:pPr>
            <a:r>
              <a:rPr lang="en-US" sz="4400" b="1" dirty="0">
                <a:solidFill>
                  <a:srgbClr val="B30D12"/>
                </a:solidFill>
                <a:latin typeface="Libre Baskerville" pitchFamily="34" charset="0"/>
                <a:ea typeface="Libre Baskerville" pitchFamily="34" charset="-122"/>
                <a:cs typeface="Libre Baskerville" pitchFamily="34" charset="-120"/>
              </a:rPr>
              <a:t>01</a:t>
            </a:r>
            <a:endParaRPr lang="en-US" sz="4400" dirty="0"/>
          </a:p>
        </p:txBody>
      </p:sp>
      <p:sp>
        <p:nvSpPr>
          <p:cNvPr id="7" name="Text 4"/>
          <p:cNvSpPr/>
          <p:nvPr/>
        </p:nvSpPr>
        <p:spPr>
          <a:xfrm>
            <a:off x="1123950" y="2716461"/>
            <a:ext cx="2847264"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F2430"/>
                </a:solidFill>
                <a:latin typeface="Public Sans" pitchFamily="34" charset="0"/>
                <a:ea typeface="Public Sans" pitchFamily="34" charset="-122"/>
                <a:cs typeface="Public Sans" pitchFamily="34" charset="-120"/>
              </a:rPr>
              <a:t>Project design</a:t>
            </a:r>
            <a:endParaRPr lang="en-US" sz="2000" dirty="0"/>
          </a:p>
        </p:txBody>
      </p:sp>
      <p:sp>
        <p:nvSpPr>
          <p:cNvPr id="8" name="Text 5"/>
          <p:cNvSpPr/>
          <p:nvPr/>
        </p:nvSpPr>
        <p:spPr>
          <a:xfrm>
            <a:off x="1123950" y="3122861"/>
            <a:ext cx="2847264" cy="1168400"/>
          </a:xfrm>
          <a:prstGeom prst="rect">
            <a:avLst/>
          </a:prstGeom>
          <a:noFill/>
        </p:spPr>
        <p:txBody>
          <a:bodyPr wrap="square" lIns="0" tIns="0" rIns="0" bIns="0" rtlCol="0" anchor="t">
            <a:normAutofit/>
          </a:bodyPr>
          <a:lstStyle/>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System architecture</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User roles</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Order lifecycle</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Data model</a:t>
            </a:r>
            <a:endParaRPr lang="en-US" sz="1500" dirty="0"/>
          </a:p>
        </p:txBody>
      </p:sp>
      <p:sp>
        <p:nvSpPr>
          <p:cNvPr id="9" name="Shape 6"/>
          <p:cNvSpPr/>
          <p:nvPr/>
        </p:nvSpPr>
        <p:spPr>
          <a:xfrm>
            <a:off x="4405809" y="1692225"/>
            <a:ext cx="3380333" cy="4146600"/>
          </a:xfrm>
          <a:prstGeom prst="roundRect">
            <a:avLst>
              <a:gd name="adj" fmla="val 3663"/>
            </a:avLst>
          </a:prstGeom>
          <a:solidFill>
            <a:srgbClr val="FFFFFF"/>
          </a:solidFill>
          <a:ln w="6350">
            <a:solidFill>
              <a:srgbClr val="E6DFD8"/>
            </a:solidFill>
            <a:prstDash val="solid"/>
          </a:ln>
        </p:spPr>
      </p:sp>
      <p:sp>
        <p:nvSpPr>
          <p:cNvPr id="10" name="Text 7"/>
          <p:cNvSpPr/>
          <p:nvPr/>
        </p:nvSpPr>
        <p:spPr>
          <a:xfrm>
            <a:off x="4713784" y="2000200"/>
            <a:ext cx="2847315" cy="640060"/>
          </a:xfrm>
          <a:prstGeom prst="rect">
            <a:avLst/>
          </a:prstGeom>
          <a:noFill/>
        </p:spPr>
        <p:txBody>
          <a:bodyPr wrap="square" lIns="0" tIns="0" rIns="0" bIns="0" rtlCol="0" anchor="t">
            <a:normAutofit/>
          </a:bodyPr>
          <a:lstStyle/>
          <a:p>
            <a:pPr marL="0" indent="0" algn="l">
              <a:lnSpc>
                <a:spcPts val="4840"/>
              </a:lnSpc>
              <a:buNone/>
            </a:pPr>
            <a:r>
              <a:rPr lang="en-US" sz="4400" b="1" dirty="0">
                <a:solidFill>
                  <a:srgbClr val="0E7C86"/>
                </a:solidFill>
                <a:latin typeface="Libre Baskerville" pitchFamily="34" charset="0"/>
                <a:ea typeface="Libre Baskerville" pitchFamily="34" charset="-122"/>
                <a:cs typeface="Libre Baskerville" pitchFamily="34" charset="-120"/>
              </a:rPr>
              <a:t>02</a:t>
            </a:r>
            <a:endParaRPr lang="en-US" sz="4400" dirty="0"/>
          </a:p>
        </p:txBody>
      </p:sp>
      <p:sp>
        <p:nvSpPr>
          <p:cNvPr id="11" name="Text 8"/>
          <p:cNvSpPr/>
          <p:nvPr/>
        </p:nvSpPr>
        <p:spPr>
          <a:xfrm>
            <a:off x="4713784" y="2716461"/>
            <a:ext cx="2847315"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F2430"/>
                </a:solidFill>
                <a:latin typeface="Public Sans" pitchFamily="34" charset="0"/>
                <a:ea typeface="Public Sans" pitchFamily="34" charset="-122"/>
                <a:cs typeface="Public Sans" pitchFamily="34" charset="-120"/>
              </a:rPr>
              <a:t>Methodology adopted</a:t>
            </a:r>
            <a:endParaRPr lang="en-US" sz="2000" dirty="0"/>
          </a:p>
        </p:txBody>
      </p:sp>
      <p:sp>
        <p:nvSpPr>
          <p:cNvPr id="12" name="Text 9"/>
          <p:cNvSpPr/>
          <p:nvPr/>
        </p:nvSpPr>
        <p:spPr>
          <a:xfrm>
            <a:off x="4713784" y="3122861"/>
            <a:ext cx="2847315" cy="1168400"/>
          </a:xfrm>
          <a:prstGeom prst="rect">
            <a:avLst/>
          </a:prstGeom>
          <a:noFill/>
        </p:spPr>
        <p:txBody>
          <a:bodyPr wrap="square" lIns="0" tIns="0" rIns="0" bIns="0" rtlCol="0" anchor="t">
            <a:normAutofit/>
          </a:bodyPr>
          <a:lstStyle/>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Phased development plan</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Engineering practices</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Realtime and concurrency approach</a:t>
            </a:r>
            <a:endParaRPr lang="en-US" sz="1500" dirty="0"/>
          </a:p>
        </p:txBody>
      </p:sp>
      <p:sp>
        <p:nvSpPr>
          <p:cNvPr id="13" name="Shape 10"/>
          <p:cNvSpPr/>
          <p:nvPr/>
        </p:nvSpPr>
        <p:spPr>
          <a:xfrm>
            <a:off x="7995692" y="1692225"/>
            <a:ext cx="3380333" cy="4146600"/>
          </a:xfrm>
          <a:prstGeom prst="roundRect">
            <a:avLst>
              <a:gd name="adj" fmla="val 3663"/>
            </a:avLst>
          </a:prstGeom>
          <a:solidFill>
            <a:srgbClr val="FFFFFF"/>
          </a:solidFill>
          <a:ln w="6350">
            <a:solidFill>
              <a:srgbClr val="E6DFD8"/>
            </a:solidFill>
            <a:prstDash val="solid"/>
          </a:ln>
        </p:spPr>
      </p:sp>
      <p:sp>
        <p:nvSpPr>
          <p:cNvPr id="14" name="Text 11"/>
          <p:cNvSpPr/>
          <p:nvPr/>
        </p:nvSpPr>
        <p:spPr>
          <a:xfrm>
            <a:off x="8303667" y="2000200"/>
            <a:ext cx="2847315" cy="640060"/>
          </a:xfrm>
          <a:prstGeom prst="rect">
            <a:avLst/>
          </a:prstGeom>
          <a:noFill/>
        </p:spPr>
        <p:txBody>
          <a:bodyPr wrap="square" lIns="0" tIns="0" rIns="0" bIns="0" rtlCol="0" anchor="t">
            <a:normAutofit/>
          </a:bodyPr>
          <a:lstStyle/>
          <a:p>
            <a:pPr marL="0" indent="0" algn="l">
              <a:lnSpc>
                <a:spcPts val="4840"/>
              </a:lnSpc>
              <a:buNone/>
            </a:pPr>
            <a:r>
              <a:rPr lang="en-US" sz="4400" b="1" dirty="0">
                <a:solidFill>
                  <a:srgbClr val="1F2430"/>
                </a:solidFill>
                <a:latin typeface="Libre Baskerville" pitchFamily="34" charset="0"/>
                <a:ea typeface="Libre Baskerville" pitchFamily="34" charset="-122"/>
                <a:cs typeface="Libre Baskerville" pitchFamily="34" charset="-120"/>
              </a:rPr>
              <a:t>03</a:t>
            </a:r>
            <a:endParaRPr lang="en-US" sz="4400" dirty="0"/>
          </a:p>
        </p:txBody>
      </p:sp>
      <p:sp>
        <p:nvSpPr>
          <p:cNvPr id="15" name="Text 12"/>
          <p:cNvSpPr/>
          <p:nvPr/>
        </p:nvSpPr>
        <p:spPr>
          <a:xfrm>
            <a:off x="8303667" y="2716461"/>
            <a:ext cx="2847315"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F2430"/>
                </a:solidFill>
                <a:latin typeface="Public Sans" pitchFamily="34" charset="0"/>
                <a:ea typeface="Public Sans" pitchFamily="34" charset="-122"/>
                <a:cs typeface="Public Sans" pitchFamily="34" charset="-120"/>
              </a:rPr>
              <a:t>Technical soundness</a:t>
            </a:r>
            <a:endParaRPr lang="en-US" sz="2000" dirty="0"/>
          </a:p>
        </p:txBody>
      </p:sp>
      <p:sp>
        <p:nvSpPr>
          <p:cNvPr id="16" name="Text 13"/>
          <p:cNvSpPr/>
          <p:nvPr/>
        </p:nvSpPr>
        <p:spPr>
          <a:xfrm>
            <a:off x="8303667" y="3122861"/>
            <a:ext cx="2847315" cy="1168400"/>
          </a:xfrm>
          <a:prstGeom prst="rect">
            <a:avLst/>
          </a:prstGeom>
          <a:noFill/>
        </p:spPr>
        <p:txBody>
          <a:bodyPr wrap="square" lIns="0" tIns="0" rIns="0" bIns="0" rtlCol="0" anchor="t">
            <a:normAutofit/>
          </a:bodyPr>
          <a:lstStyle/>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Design decisions against risks</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Security model</a:t>
            </a:r>
            <a:endParaRPr lang="en-US" sz="1500" dirty="0"/>
          </a:p>
          <a:p>
            <a:pPr marL="228600" indent="-170180" algn="l">
              <a:lnSpc>
                <a:spcPts val="2250"/>
              </a:lnSpc>
              <a:buSzPct val="100000"/>
              <a:buChar char="•"/>
            </a:pPr>
            <a:r>
              <a:rPr lang="en-US" sz="1500" dirty="0">
                <a:solidFill>
                  <a:srgbClr val="4A5160"/>
                </a:solidFill>
                <a:latin typeface="Public Sans" pitchFamily="34" charset="0"/>
                <a:ea typeface="Public Sans" pitchFamily="34" charset="-122"/>
                <a:cs typeface="Public Sans" pitchFamily="34" charset="-120"/>
              </a:rPr>
              <a:t>Verified results</a:t>
            </a:r>
            <a:endParaRPr lang="en-US" sz="1500" dirty="0"/>
          </a:p>
        </p:txBody>
      </p:sp>
      <p:sp>
        <p:nvSpPr>
          <p:cNvPr id="17" name="Text 14"/>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18" name="Text 15"/>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1 · PROJECT DESIGN</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System architecture</a:t>
            </a:r>
            <a:endParaRPr lang="en-US" sz="2800" dirty="0"/>
          </a:p>
        </p:txBody>
      </p:sp>
      <p:sp>
        <p:nvSpPr>
          <p:cNvPr id="5" name="Shape 2"/>
          <p:cNvSpPr/>
          <p:nvPr/>
        </p:nvSpPr>
        <p:spPr>
          <a:xfrm>
            <a:off x="819150" y="1847850"/>
            <a:ext cx="2527300" cy="3289300"/>
          </a:xfrm>
          <a:prstGeom prst="roundRect">
            <a:avLst>
              <a:gd name="adj" fmla="val 4774"/>
            </a:avLst>
          </a:prstGeom>
          <a:solidFill>
            <a:srgbClr val="FFFFFF"/>
          </a:solidFill>
          <a:ln w="12700">
            <a:solidFill>
              <a:srgbClr val="B30D12"/>
            </a:solidFill>
            <a:prstDash val="solid"/>
          </a:ln>
        </p:spPr>
      </p:sp>
      <p:sp>
        <p:nvSpPr>
          <p:cNvPr id="6" name="Text 3"/>
          <p:cNvSpPr/>
          <p:nvPr/>
        </p:nvSpPr>
        <p:spPr>
          <a:xfrm>
            <a:off x="1003300" y="2032000"/>
            <a:ext cx="2223770"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B30D12"/>
                </a:solidFill>
                <a:latin typeface="Public Sans" pitchFamily="34" charset="0"/>
                <a:ea typeface="Public Sans" pitchFamily="34" charset="-122"/>
                <a:cs typeface="Public Sans" pitchFamily="34" charset="-120"/>
              </a:rPr>
              <a:t>CLIENT TIER</a:t>
            </a:r>
            <a:endParaRPr lang="en-US" sz="1200" dirty="0"/>
          </a:p>
        </p:txBody>
      </p:sp>
      <p:sp>
        <p:nvSpPr>
          <p:cNvPr id="7" name="Text 4"/>
          <p:cNvSpPr/>
          <p:nvPr/>
        </p:nvSpPr>
        <p:spPr>
          <a:xfrm>
            <a:off x="1003300" y="2346920"/>
            <a:ext cx="222377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React + Vite SPA</a:t>
            </a:r>
            <a:endParaRPr lang="en-US" sz="1600" dirty="0"/>
          </a:p>
        </p:txBody>
      </p:sp>
      <p:sp>
        <p:nvSpPr>
          <p:cNvPr id="8" name="Shape 5"/>
          <p:cNvSpPr/>
          <p:nvPr/>
        </p:nvSpPr>
        <p:spPr>
          <a:xfrm>
            <a:off x="1003300" y="2692350"/>
            <a:ext cx="2159000" cy="665411"/>
          </a:xfrm>
          <a:prstGeom prst="roundRect">
            <a:avLst>
              <a:gd name="adj" fmla="val 11452"/>
            </a:avLst>
          </a:prstGeom>
          <a:solidFill>
            <a:srgbClr val="F7E4E4"/>
          </a:solidFill>
        </p:spPr>
      </p:sp>
      <p:sp>
        <p:nvSpPr>
          <p:cNvPr id="9" name="Text 6"/>
          <p:cNvSpPr/>
          <p:nvPr/>
        </p:nvSpPr>
        <p:spPr>
          <a:xfrm>
            <a:off x="1130300" y="2793950"/>
            <a:ext cx="1962150"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Student portal</a:t>
            </a:r>
            <a:endParaRPr lang="en-US" sz="1400" dirty="0"/>
          </a:p>
        </p:txBody>
      </p:sp>
      <p:sp>
        <p:nvSpPr>
          <p:cNvPr id="10" name="Text 7"/>
          <p:cNvSpPr/>
          <p:nvPr/>
        </p:nvSpPr>
        <p:spPr>
          <a:xfrm>
            <a:off x="1130300" y="3042841"/>
            <a:ext cx="19621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Menu, cart, live status</a:t>
            </a:r>
            <a:endParaRPr lang="en-US" sz="1200" dirty="0"/>
          </a:p>
        </p:txBody>
      </p:sp>
      <p:sp>
        <p:nvSpPr>
          <p:cNvPr id="11" name="Shape 8"/>
          <p:cNvSpPr/>
          <p:nvPr/>
        </p:nvSpPr>
        <p:spPr>
          <a:xfrm>
            <a:off x="1003300" y="3459361"/>
            <a:ext cx="2159000" cy="665411"/>
          </a:xfrm>
          <a:prstGeom prst="roundRect">
            <a:avLst>
              <a:gd name="adj" fmla="val 11452"/>
            </a:avLst>
          </a:prstGeom>
          <a:solidFill>
            <a:srgbClr val="F7E4E4"/>
          </a:solidFill>
        </p:spPr>
      </p:sp>
      <p:sp>
        <p:nvSpPr>
          <p:cNvPr id="12" name="Text 9"/>
          <p:cNvSpPr/>
          <p:nvPr/>
        </p:nvSpPr>
        <p:spPr>
          <a:xfrm>
            <a:off x="1130300" y="3560961"/>
            <a:ext cx="1962150"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Guest portal</a:t>
            </a:r>
            <a:endParaRPr lang="en-US" sz="1400" dirty="0"/>
          </a:p>
        </p:txBody>
      </p:sp>
      <p:sp>
        <p:nvSpPr>
          <p:cNvPr id="13" name="Text 10"/>
          <p:cNvSpPr/>
          <p:nvPr/>
        </p:nvSpPr>
        <p:spPr>
          <a:xfrm>
            <a:off x="1130300" y="3809851"/>
            <a:ext cx="19621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QR entry, no account</a:t>
            </a:r>
            <a:endParaRPr lang="en-US" sz="1200" dirty="0"/>
          </a:p>
        </p:txBody>
      </p:sp>
      <p:sp>
        <p:nvSpPr>
          <p:cNvPr id="14" name="Shape 11"/>
          <p:cNvSpPr/>
          <p:nvPr/>
        </p:nvSpPr>
        <p:spPr>
          <a:xfrm>
            <a:off x="1003300" y="4226371"/>
            <a:ext cx="2159000" cy="665411"/>
          </a:xfrm>
          <a:prstGeom prst="roundRect">
            <a:avLst>
              <a:gd name="adj" fmla="val 11452"/>
            </a:avLst>
          </a:prstGeom>
          <a:solidFill>
            <a:srgbClr val="F7E4E4"/>
          </a:solidFill>
        </p:spPr>
      </p:sp>
      <p:sp>
        <p:nvSpPr>
          <p:cNvPr id="15" name="Text 12"/>
          <p:cNvSpPr/>
          <p:nvPr/>
        </p:nvSpPr>
        <p:spPr>
          <a:xfrm>
            <a:off x="1130300" y="4327971"/>
            <a:ext cx="1962150"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Admin console</a:t>
            </a:r>
            <a:endParaRPr lang="en-US" sz="1400" dirty="0"/>
          </a:p>
        </p:txBody>
      </p:sp>
      <p:sp>
        <p:nvSpPr>
          <p:cNvPr id="16" name="Text 13"/>
          <p:cNvSpPr/>
          <p:nvPr/>
        </p:nvSpPr>
        <p:spPr>
          <a:xfrm>
            <a:off x="1130300" y="4576862"/>
            <a:ext cx="19621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Order board, menu, stock</a:t>
            </a:r>
            <a:endParaRPr lang="en-US" sz="1200" dirty="0"/>
          </a:p>
        </p:txBody>
      </p:sp>
      <p:sp>
        <p:nvSpPr>
          <p:cNvPr id="17" name="Shape 14"/>
          <p:cNvSpPr/>
          <p:nvPr/>
        </p:nvSpPr>
        <p:spPr>
          <a:xfrm>
            <a:off x="4248150" y="1847850"/>
            <a:ext cx="3543300" cy="3289300"/>
          </a:xfrm>
          <a:prstGeom prst="roundRect">
            <a:avLst>
              <a:gd name="adj" fmla="val 3668"/>
            </a:avLst>
          </a:prstGeom>
          <a:solidFill>
            <a:srgbClr val="FFFFFF"/>
          </a:solidFill>
          <a:ln w="12700">
            <a:solidFill>
              <a:srgbClr val="1F2430"/>
            </a:solidFill>
            <a:prstDash val="solid"/>
          </a:ln>
        </p:spPr>
      </p:sp>
      <p:sp>
        <p:nvSpPr>
          <p:cNvPr id="18" name="Text 15"/>
          <p:cNvSpPr/>
          <p:nvPr/>
        </p:nvSpPr>
        <p:spPr>
          <a:xfrm>
            <a:off x="4432300" y="2032000"/>
            <a:ext cx="3270250"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1F2430"/>
                </a:solidFill>
                <a:latin typeface="Public Sans" pitchFamily="34" charset="0"/>
                <a:ea typeface="Public Sans" pitchFamily="34" charset="-122"/>
                <a:cs typeface="Public Sans" pitchFamily="34" charset="-120"/>
              </a:rPr>
              <a:t>API TIER · SERVICE-ORIENTED</a:t>
            </a:r>
            <a:endParaRPr lang="en-US" sz="1200" dirty="0"/>
          </a:p>
        </p:txBody>
      </p:sp>
      <p:sp>
        <p:nvSpPr>
          <p:cNvPr id="19" name="Text 16"/>
          <p:cNvSpPr/>
          <p:nvPr/>
        </p:nvSpPr>
        <p:spPr>
          <a:xfrm>
            <a:off x="4432300" y="2346920"/>
            <a:ext cx="327025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Hono API</a:t>
            </a:r>
            <a:endParaRPr lang="en-US" sz="1600" dirty="0"/>
          </a:p>
        </p:txBody>
      </p:sp>
      <p:sp>
        <p:nvSpPr>
          <p:cNvPr id="20" name="Text 17"/>
          <p:cNvSpPr/>
          <p:nvPr/>
        </p:nvSpPr>
        <p:spPr>
          <a:xfrm>
            <a:off x="4432300" y="2692350"/>
            <a:ext cx="526256" cy="289520"/>
          </a:xfrm>
          <a:custGeom>
            <a:avLst/>
            <a:gdLst/>
            <a:ahLst/>
            <a:cxnLst/>
            <a:rect l="l" t="t" r="r" b="b"/>
            <a:pathLst>
              <a:path w="526256" h="289520">
                <a:moveTo>
                  <a:pt x="144760" y="0"/>
                </a:moveTo>
                <a:lnTo>
                  <a:pt x="381496" y="0"/>
                </a:lnTo>
                <a:arcTo wR="144760" hR="144760" stAng="16200000" swAng="5400000"/>
                <a:lnTo>
                  <a:pt x="526256" y="144760"/>
                </a:lnTo>
                <a:arcTo wR="144760" hR="144760" stAng="0" swAng="5400000"/>
                <a:lnTo>
                  <a:pt x="144760" y="289520"/>
                </a:lnTo>
                <a:arcTo wR="144760" hR="144760" stAng="5400000" swAng="5400000"/>
                <a:lnTo>
                  <a:pt x="0" y="144760"/>
                </a:lnTo>
                <a:arcTo wR="144760" hR="144760" stAng="10800000" swAng="5400000"/>
                <a:close/>
              </a:path>
            </a:pathLst>
          </a:custGeom>
          <a:solidFill>
            <a:srgbClr val="1F2430"/>
          </a:solidFill>
        </p:spPr>
        <p:txBody>
          <a:bodyPr wrap="none" lIns="0" tIns="0" rIns="0" bIns="0" rtlCol="0" anchor="ctr">
            <a:normAutofit/>
          </a:bodyPr>
          <a:lstStyle/>
          <a:p>
            <a:pPr marL="0" indent="0" algn="ctr">
              <a:lnSpc>
                <a:spcPts val="1680"/>
              </a:lnSpc>
              <a:buNone/>
            </a:pPr>
            <a:r>
              <a:rPr lang="en-US" sz="1200" b="1" dirty="0">
                <a:solidFill>
                  <a:srgbClr val="FFFFFF"/>
                </a:solidFill>
                <a:latin typeface="Public Sans" pitchFamily="34" charset="0"/>
                <a:ea typeface="Public Sans" pitchFamily="34" charset="-122"/>
                <a:cs typeface="Public Sans" pitchFamily="34" charset="-120"/>
              </a:rPr>
              <a:t>Auth</a:t>
            </a:r>
            <a:endParaRPr lang="en-US" sz="1200" dirty="0"/>
          </a:p>
        </p:txBody>
      </p:sp>
      <p:sp>
        <p:nvSpPr>
          <p:cNvPr id="21" name="Text 18"/>
          <p:cNvSpPr/>
          <p:nvPr/>
        </p:nvSpPr>
        <p:spPr>
          <a:xfrm>
            <a:off x="5022056" y="2692350"/>
            <a:ext cx="867470" cy="289520"/>
          </a:xfrm>
          <a:custGeom>
            <a:avLst/>
            <a:gdLst/>
            <a:ahLst/>
            <a:cxnLst/>
            <a:rect l="l" t="t" r="r" b="b"/>
            <a:pathLst>
              <a:path w="867470" h="289520">
                <a:moveTo>
                  <a:pt x="144760" y="0"/>
                </a:moveTo>
                <a:lnTo>
                  <a:pt x="722709" y="0"/>
                </a:lnTo>
                <a:arcTo wR="144760" hR="144760" stAng="16200000" swAng="5400000"/>
                <a:lnTo>
                  <a:pt x="867470" y="144760"/>
                </a:lnTo>
                <a:arcTo wR="144760" hR="144760" stAng="0" swAng="5400000"/>
                <a:lnTo>
                  <a:pt x="144760" y="289520"/>
                </a:lnTo>
                <a:arcTo wR="144760" hR="144760" stAng="5400000" swAng="5400000"/>
                <a:lnTo>
                  <a:pt x="0" y="144760"/>
                </a:lnTo>
                <a:arcTo wR="144760" hR="144760" stAng="10800000" swAng="5400000"/>
                <a:close/>
              </a:path>
            </a:pathLst>
          </a:custGeom>
          <a:solidFill>
            <a:srgbClr val="1F2430"/>
          </a:solidFill>
        </p:spPr>
        <p:txBody>
          <a:bodyPr wrap="none" lIns="0" tIns="0" rIns="0" bIns="0" rtlCol="0" anchor="ctr">
            <a:normAutofit/>
          </a:bodyPr>
          <a:lstStyle/>
          <a:p>
            <a:pPr marL="0" indent="0" algn="ctr">
              <a:lnSpc>
                <a:spcPts val="1680"/>
              </a:lnSpc>
              <a:buNone/>
            </a:pPr>
            <a:r>
              <a:rPr lang="en-US" sz="1200" b="1" dirty="0">
                <a:solidFill>
                  <a:srgbClr val="FFFFFF"/>
                </a:solidFill>
                <a:latin typeface="Public Sans" pitchFamily="34" charset="0"/>
                <a:ea typeface="Public Sans" pitchFamily="34" charset="-122"/>
                <a:cs typeface="Public Sans" pitchFamily="34" charset="-120"/>
              </a:rPr>
              <a:t>Rate limit</a:t>
            </a:r>
            <a:endParaRPr lang="en-US" sz="1200" dirty="0"/>
          </a:p>
        </p:txBody>
      </p:sp>
      <p:sp>
        <p:nvSpPr>
          <p:cNvPr id="22" name="Text 19"/>
          <p:cNvSpPr/>
          <p:nvPr/>
        </p:nvSpPr>
        <p:spPr>
          <a:xfrm>
            <a:off x="5953026" y="2692350"/>
            <a:ext cx="1088926" cy="289520"/>
          </a:xfrm>
          <a:custGeom>
            <a:avLst/>
            <a:gdLst/>
            <a:ahLst/>
            <a:cxnLst/>
            <a:rect l="l" t="t" r="r" b="b"/>
            <a:pathLst>
              <a:path w="1088926" h="289520">
                <a:moveTo>
                  <a:pt x="144760" y="0"/>
                </a:moveTo>
                <a:lnTo>
                  <a:pt x="944166" y="0"/>
                </a:lnTo>
                <a:arcTo wR="144760" hR="144760" stAng="16200000" swAng="5400000"/>
                <a:lnTo>
                  <a:pt x="1088926" y="144760"/>
                </a:lnTo>
                <a:arcTo wR="144760" hR="144760" stAng="0" swAng="5400000"/>
                <a:lnTo>
                  <a:pt x="144760" y="289520"/>
                </a:lnTo>
                <a:arcTo wR="144760" hR="144760" stAng="5400000" swAng="5400000"/>
                <a:lnTo>
                  <a:pt x="0" y="144760"/>
                </a:lnTo>
                <a:arcTo wR="144760" hR="144760" stAng="10800000" swAng="5400000"/>
                <a:close/>
              </a:path>
            </a:pathLst>
          </a:custGeom>
          <a:solidFill>
            <a:srgbClr val="1F2430"/>
          </a:solidFill>
        </p:spPr>
        <p:txBody>
          <a:bodyPr wrap="none" lIns="0" tIns="0" rIns="0" bIns="0" rtlCol="0" anchor="ctr">
            <a:normAutofit/>
          </a:bodyPr>
          <a:lstStyle/>
          <a:p>
            <a:pPr marL="0" indent="0" algn="ctr">
              <a:lnSpc>
                <a:spcPts val="1680"/>
              </a:lnSpc>
              <a:buNone/>
            </a:pPr>
            <a:r>
              <a:rPr lang="en-US" sz="1200" b="1" dirty="0">
                <a:solidFill>
                  <a:srgbClr val="FFFFFF"/>
                </a:solidFill>
                <a:latin typeface="Public Sans" pitchFamily="34" charset="0"/>
                <a:ea typeface="Public Sans" pitchFamily="34" charset="-122"/>
                <a:cs typeface="Public Sans" pitchFamily="34" charset="-120"/>
              </a:rPr>
              <a:t>HMAC verify</a:t>
            </a:r>
            <a:endParaRPr lang="en-US" sz="1200" dirty="0"/>
          </a:p>
        </p:txBody>
      </p:sp>
      <p:sp>
        <p:nvSpPr>
          <p:cNvPr id="23" name="Text 20"/>
          <p:cNvSpPr/>
          <p:nvPr/>
        </p:nvSpPr>
        <p:spPr>
          <a:xfrm>
            <a:off x="4432300" y="3083471"/>
            <a:ext cx="642243" cy="332730"/>
          </a:xfrm>
          <a:prstGeom prst="roundRect">
            <a:avLst>
              <a:gd name="adj" fmla="val 19085"/>
            </a:avLst>
          </a:prstGeom>
          <a:solidFill>
            <a:srgbClr val="EEE8E1"/>
          </a:solidFill>
        </p:spPr>
        <p:txBody>
          <a:bodyPr wrap="none" lIns="0" tIns="0" rIns="0" bIns="0" rtlCol="0" anchor="ctr">
            <a:normAutofit/>
          </a:bodyPr>
          <a:lstStyle/>
          <a:p>
            <a:pPr marL="0" indent="0" algn="ctr">
              <a:lnSpc>
                <a:spcPts val="1820"/>
              </a:lnSpc>
              <a:buNone/>
            </a:pPr>
            <a:r>
              <a:rPr lang="en-US" sz="1300" b="1" dirty="0">
                <a:solidFill>
                  <a:srgbClr val="1F2430"/>
                </a:solidFill>
                <a:latin typeface="Public Sans" pitchFamily="34" charset="0"/>
                <a:ea typeface="Public Sans" pitchFamily="34" charset="-122"/>
                <a:cs typeface="Public Sans" pitchFamily="34" charset="-120"/>
              </a:rPr>
              <a:t>/auth</a:t>
            </a:r>
            <a:endParaRPr lang="en-US" sz="1300" dirty="0"/>
          </a:p>
        </p:txBody>
      </p:sp>
      <p:sp>
        <p:nvSpPr>
          <p:cNvPr id="24" name="Text 21"/>
          <p:cNvSpPr/>
          <p:nvPr/>
        </p:nvSpPr>
        <p:spPr>
          <a:xfrm>
            <a:off x="5150743" y="3083471"/>
            <a:ext cx="723106" cy="332730"/>
          </a:xfrm>
          <a:prstGeom prst="roundRect">
            <a:avLst>
              <a:gd name="adj" fmla="val 19085"/>
            </a:avLst>
          </a:prstGeom>
          <a:solidFill>
            <a:srgbClr val="EEE8E1"/>
          </a:solidFill>
        </p:spPr>
        <p:txBody>
          <a:bodyPr wrap="none" lIns="0" tIns="0" rIns="0" bIns="0" rtlCol="0" anchor="ctr">
            <a:normAutofit/>
          </a:bodyPr>
          <a:lstStyle/>
          <a:p>
            <a:pPr marL="0" indent="0" algn="ctr">
              <a:lnSpc>
                <a:spcPts val="1820"/>
              </a:lnSpc>
              <a:buNone/>
            </a:pPr>
            <a:r>
              <a:rPr lang="en-US" sz="1300" b="1" dirty="0">
                <a:solidFill>
                  <a:srgbClr val="1F2430"/>
                </a:solidFill>
                <a:latin typeface="Public Sans" pitchFamily="34" charset="0"/>
                <a:ea typeface="Public Sans" pitchFamily="34" charset="-122"/>
                <a:cs typeface="Public Sans" pitchFamily="34" charset="-120"/>
              </a:rPr>
              <a:t>/menu</a:t>
            </a:r>
            <a:endParaRPr lang="en-US" sz="1300" dirty="0"/>
          </a:p>
        </p:txBody>
      </p:sp>
      <p:sp>
        <p:nvSpPr>
          <p:cNvPr id="25" name="Text 22"/>
          <p:cNvSpPr/>
          <p:nvPr/>
        </p:nvSpPr>
        <p:spPr>
          <a:xfrm>
            <a:off x="5950049" y="3083471"/>
            <a:ext cx="794693" cy="332730"/>
          </a:xfrm>
          <a:prstGeom prst="roundRect">
            <a:avLst>
              <a:gd name="adj" fmla="val 19085"/>
            </a:avLst>
          </a:prstGeom>
          <a:solidFill>
            <a:srgbClr val="EEE8E1"/>
          </a:solidFill>
        </p:spPr>
        <p:txBody>
          <a:bodyPr wrap="none" lIns="0" tIns="0" rIns="0" bIns="0" rtlCol="0" anchor="ctr">
            <a:normAutofit/>
          </a:bodyPr>
          <a:lstStyle/>
          <a:p>
            <a:pPr marL="0" indent="0" algn="ctr">
              <a:lnSpc>
                <a:spcPts val="1820"/>
              </a:lnSpc>
              <a:buNone/>
            </a:pPr>
            <a:r>
              <a:rPr lang="en-US" sz="1300" b="1" dirty="0">
                <a:solidFill>
                  <a:srgbClr val="1F2430"/>
                </a:solidFill>
                <a:latin typeface="Public Sans" pitchFamily="34" charset="0"/>
                <a:ea typeface="Public Sans" pitchFamily="34" charset="-122"/>
                <a:cs typeface="Public Sans" pitchFamily="34" charset="-120"/>
              </a:rPr>
              <a:t>/orders</a:t>
            </a:r>
            <a:endParaRPr lang="en-US" sz="1300" dirty="0"/>
          </a:p>
        </p:txBody>
      </p:sp>
      <p:sp>
        <p:nvSpPr>
          <p:cNvPr id="26" name="Text 23"/>
          <p:cNvSpPr/>
          <p:nvPr/>
        </p:nvSpPr>
        <p:spPr>
          <a:xfrm>
            <a:off x="6820942" y="3083471"/>
            <a:ext cx="732830" cy="332730"/>
          </a:xfrm>
          <a:prstGeom prst="roundRect">
            <a:avLst>
              <a:gd name="adj" fmla="val 19085"/>
            </a:avLst>
          </a:prstGeom>
          <a:solidFill>
            <a:srgbClr val="EEE8E1"/>
          </a:solidFill>
        </p:spPr>
        <p:txBody>
          <a:bodyPr wrap="none" lIns="0" tIns="0" rIns="0" bIns="0" rtlCol="0" anchor="ctr">
            <a:normAutofit/>
          </a:bodyPr>
          <a:lstStyle/>
          <a:p>
            <a:pPr marL="0" indent="0" algn="ctr">
              <a:lnSpc>
                <a:spcPts val="1820"/>
              </a:lnSpc>
              <a:buNone/>
            </a:pPr>
            <a:r>
              <a:rPr lang="en-US" sz="1300" b="1" dirty="0">
                <a:solidFill>
                  <a:srgbClr val="1F2430"/>
                </a:solidFill>
                <a:latin typeface="Public Sans" pitchFamily="34" charset="0"/>
                <a:ea typeface="Public Sans" pitchFamily="34" charset="-122"/>
                <a:cs typeface="Public Sans" pitchFamily="34" charset="-120"/>
              </a:rPr>
              <a:t>/guest</a:t>
            </a:r>
            <a:endParaRPr lang="en-US" sz="1300" dirty="0"/>
          </a:p>
        </p:txBody>
      </p:sp>
      <p:sp>
        <p:nvSpPr>
          <p:cNvPr id="27" name="Text 24"/>
          <p:cNvSpPr/>
          <p:nvPr/>
        </p:nvSpPr>
        <p:spPr>
          <a:xfrm>
            <a:off x="4432300" y="3492401"/>
            <a:ext cx="767705" cy="332730"/>
          </a:xfrm>
          <a:prstGeom prst="roundRect">
            <a:avLst>
              <a:gd name="adj" fmla="val 19085"/>
            </a:avLst>
          </a:prstGeom>
          <a:solidFill>
            <a:srgbClr val="EEE8E1"/>
          </a:solidFill>
        </p:spPr>
        <p:txBody>
          <a:bodyPr wrap="none" lIns="0" tIns="0" rIns="0" bIns="0" rtlCol="0" anchor="ctr">
            <a:normAutofit/>
          </a:bodyPr>
          <a:lstStyle/>
          <a:p>
            <a:pPr marL="0" indent="0" algn="ctr">
              <a:lnSpc>
                <a:spcPts val="1820"/>
              </a:lnSpc>
              <a:buNone/>
            </a:pPr>
            <a:r>
              <a:rPr lang="en-US" sz="1300" b="1" dirty="0">
                <a:solidFill>
                  <a:srgbClr val="1F2430"/>
                </a:solidFill>
                <a:latin typeface="Public Sans" pitchFamily="34" charset="0"/>
                <a:ea typeface="Public Sans" pitchFamily="34" charset="-122"/>
                <a:cs typeface="Public Sans" pitchFamily="34" charset="-120"/>
              </a:rPr>
              <a:t>/admin</a:t>
            </a:r>
            <a:endParaRPr lang="en-US" sz="1300" dirty="0"/>
          </a:p>
        </p:txBody>
      </p:sp>
      <p:sp>
        <p:nvSpPr>
          <p:cNvPr id="28" name="Text 25"/>
          <p:cNvSpPr/>
          <p:nvPr/>
        </p:nvSpPr>
        <p:spPr>
          <a:xfrm>
            <a:off x="4432300" y="3926731"/>
            <a:ext cx="3175000" cy="665460"/>
          </a:xfrm>
          <a:prstGeom prst="roundRect">
            <a:avLst>
              <a:gd name="adj" fmla="val 11451"/>
            </a:avLst>
          </a:prstGeom>
          <a:solidFill>
            <a:srgbClr val="F1EAE3"/>
          </a:solidFill>
        </p:spPr>
        <p:txBody>
          <a:bodyPr wrap="square" lIns="104682" tIns="79282" rIns="17052" bIns="53882" rtlCol="0" anchor="t">
            <a:normAutofit/>
          </a:bodyPr>
          <a:lstStyle/>
          <a:p>
            <a:pPr marL="0" indent="0" algn="l">
              <a:lnSpc>
                <a:spcPts val="1820"/>
              </a:lnSpc>
              <a:buNone/>
            </a:pPr>
            <a:r>
              <a:rPr lang="en-US" sz="1300" dirty="0">
                <a:solidFill>
                  <a:srgbClr val="1F2430"/>
                </a:solidFill>
                <a:latin typeface="Public Sans" pitchFamily="34" charset="0"/>
                <a:ea typeface="Public Sans" pitchFamily="34" charset="-122"/>
                <a:cs typeface="Public Sans" pitchFamily="34" charset="-120"/>
              </a:rPr>
              <a:t>Service layer: each route module is backed by its own service</a:t>
            </a:r>
            <a:endParaRPr lang="en-US" sz="1300" dirty="0"/>
          </a:p>
        </p:txBody>
      </p:sp>
      <p:sp>
        <p:nvSpPr>
          <p:cNvPr id="29" name="Shape 26"/>
          <p:cNvSpPr/>
          <p:nvPr/>
        </p:nvSpPr>
        <p:spPr>
          <a:xfrm>
            <a:off x="8693150" y="1847850"/>
            <a:ext cx="2679700" cy="1447800"/>
          </a:xfrm>
          <a:prstGeom prst="roundRect">
            <a:avLst>
              <a:gd name="adj" fmla="val 8333"/>
            </a:avLst>
          </a:prstGeom>
          <a:solidFill>
            <a:srgbClr val="FFFFFF"/>
          </a:solidFill>
          <a:ln w="12700">
            <a:solidFill>
              <a:srgbClr val="0E7C86"/>
            </a:solidFill>
            <a:prstDash val="solid"/>
          </a:ln>
        </p:spPr>
      </p:sp>
      <p:sp>
        <p:nvSpPr>
          <p:cNvPr id="30" name="Text 27"/>
          <p:cNvSpPr/>
          <p:nvPr/>
        </p:nvSpPr>
        <p:spPr>
          <a:xfrm>
            <a:off x="8877300" y="2032000"/>
            <a:ext cx="2380742"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0E7C86"/>
                </a:solidFill>
                <a:latin typeface="Public Sans" pitchFamily="34" charset="0"/>
                <a:ea typeface="Public Sans" pitchFamily="34" charset="-122"/>
                <a:cs typeface="Public Sans" pitchFamily="34" charset="-120"/>
              </a:rPr>
              <a:t>DATA TIER</a:t>
            </a:r>
            <a:endParaRPr lang="en-US" sz="1200" dirty="0"/>
          </a:p>
        </p:txBody>
      </p:sp>
      <p:sp>
        <p:nvSpPr>
          <p:cNvPr id="31" name="Text 28"/>
          <p:cNvSpPr/>
          <p:nvPr/>
        </p:nvSpPr>
        <p:spPr>
          <a:xfrm>
            <a:off x="8877300" y="2346920"/>
            <a:ext cx="2380742"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PostgreSQL (Neon)</a:t>
            </a:r>
            <a:endParaRPr lang="en-US" sz="1600" dirty="0"/>
          </a:p>
        </p:txBody>
      </p:sp>
      <p:sp>
        <p:nvSpPr>
          <p:cNvPr id="32" name="Text 29"/>
          <p:cNvSpPr/>
          <p:nvPr/>
        </p:nvSpPr>
        <p:spPr>
          <a:xfrm>
            <a:off x="8877300" y="2692350"/>
            <a:ext cx="2380742" cy="421580"/>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A5160"/>
                </a:solidFill>
                <a:latin typeface="Public Sans" pitchFamily="34" charset="0"/>
                <a:ea typeface="Public Sans" pitchFamily="34" charset="-122"/>
                <a:cs typeface="Public Sans" pitchFamily="34" charset="-120"/>
              </a:rPr>
              <a:t>Prisma ORM: orders, stock, menu, audit log</a:t>
            </a:r>
            <a:endParaRPr lang="en-US" sz="1200" dirty="0"/>
          </a:p>
        </p:txBody>
      </p:sp>
      <p:sp>
        <p:nvSpPr>
          <p:cNvPr id="33" name="Shape 30"/>
          <p:cNvSpPr/>
          <p:nvPr/>
        </p:nvSpPr>
        <p:spPr>
          <a:xfrm>
            <a:off x="8693150" y="3498850"/>
            <a:ext cx="2679700" cy="1638300"/>
          </a:xfrm>
          <a:prstGeom prst="roundRect">
            <a:avLst>
              <a:gd name="adj" fmla="val 7364"/>
            </a:avLst>
          </a:prstGeom>
          <a:solidFill>
            <a:srgbClr val="FFFFFF"/>
          </a:solidFill>
          <a:ln w="12700">
            <a:solidFill>
              <a:srgbClr val="0E7C86"/>
            </a:solidFill>
            <a:prstDash val="solid"/>
          </a:ln>
        </p:spPr>
      </p:sp>
      <p:sp>
        <p:nvSpPr>
          <p:cNvPr id="34" name="Text 31"/>
          <p:cNvSpPr/>
          <p:nvPr/>
        </p:nvSpPr>
        <p:spPr>
          <a:xfrm>
            <a:off x="8877300" y="3683000"/>
            <a:ext cx="2380742"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0E7C86"/>
                </a:solidFill>
                <a:latin typeface="Public Sans" pitchFamily="34" charset="0"/>
                <a:ea typeface="Public Sans" pitchFamily="34" charset="-122"/>
                <a:cs typeface="Public Sans" pitchFamily="34" charset="-120"/>
              </a:rPr>
              <a:t>REALTIME</a:t>
            </a:r>
            <a:endParaRPr lang="en-US" sz="1200" dirty="0"/>
          </a:p>
        </p:txBody>
      </p:sp>
      <p:sp>
        <p:nvSpPr>
          <p:cNvPr id="35" name="Text 32"/>
          <p:cNvSpPr/>
          <p:nvPr/>
        </p:nvSpPr>
        <p:spPr>
          <a:xfrm>
            <a:off x="8877300" y="3997920"/>
            <a:ext cx="2380742"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SSE hub</a:t>
            </a:r>
            <a:endParaRPr lang="en-US" sz="1600" dirty="0"/>
          </a:p>
        </p:txBody>
      </p:sp>
      <p:sp>
        <p:nvSpPr>
          <p:cNvPr id="36" name="Text 33"/>
          <p:cNvSpPr/>
          <p:nvPr/>
        </p:nvSpPr>
        <p:spPr>
          <a:xfrm>
            <a:off x="8877300" y="4343350"/>
            <a:ext cx="2380742" cy="619671"/>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A5160"/>
                </a:solidFill>
                <a:latin typeface="Public Sans" pitchFamily="34" charset="0"/>
                <a:ea typeface="Public Sans" pitchFamily="34" charset="-122"/>
                <a:cs typeface="Public Sans" pitchFamily="34" charset="-120"/>
              </a:rPr>
              <a:t>Durable Object: stateful realtime boundary, apart from the stateless API</a:t>
            </a:r>
            <a:endParaRPr lang="en-US" sz="1200" dirty="0"/>
          </a:p>
        </p:txBody>
      </p:sp>
      <p:pic>
        <p:nvPicPr>
          <p:cNvPr id="37" name="Image 1" descr="connector"/>
          <p:cNvPicPr>
            <a:picLocks noChangeAspect="1"/>
          </p:cNvPicPr>
          <p:nvPr/>
        </p:nvPicPr>
        <p:blipFill>
          <a:blip r:embed="rId2"/>
          <a:srcRect/>
          <a:stretch>
            <a:fillRect/>
          </a:stretch>
        </p:blipFill>
        <p:spPr>
          <a:xfrm>
            <a:off x="3314700" y="2520950"/>
            <a:ext cx="965200" cy="101600"/>
          </a:xfrm>
          <a:prstGeom prst="rect">
            <a:avLst/>
          </a:prstGeom>
        </p:spPr>
      </p:pic>
      <p:sp>
        <p:nvSpPr>
          <p:cNvPr id="38" name="Text 34"/>
          <p:cNvSpPr/>
          <p:nvPr/>
        </p:nvSpPr>
        <p:spPr>
          <a:xfrm>
            <a:off x="3327400" y="2298700"/>
            <a:ext cx="9398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REST</a:t>
            </a:r>
            <a:endParaRPr lang="en-US" sz="1200" dirty="0"/>
          </a:p>
        </p:txBody>
      </p:sp>
      <p:pic>
        <p:nvPicPr>
          <p:cNvPr id="39" name="Image 2" descr="connector"/>
          <p:cNvPicPr>
            <a:picLocks noChangeAspect="1"/>
          </p:cNvPicPr>
          <p:nvPr/>
        </p:nvPicPr>
        <p:blipFill>
          <a:blip r:embed="rId3"/>
          <a:srcRect/>
          <a:stretch>
            <a:fillRect/>
          </a:stretch>
        </p:blipFill>
        <p:spPr>
          <a:xfrm>
            <a:off x="3314700" y="4267200"/>
            <a:ext cx="965200" cy="101600"/>
          </a:xfrm>
          <a:prstGeom prst="rect">
            <a:avLst/>
          </a:prstGeom>
        </p:spPr>
      </p:pic>
      <p:sp>
        <p:nvSpPr>
          <p:cNvPr id="40" name="Text 35"/>
          <p:cNvSpPr/>
          <p:nvPr/>
        </p:nvSpPr>
        <p:spPr>
          <a:xfrm>
            <a:off x="3327400" y="4044950"/>
            <a:ext cx="9398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B30D12"/>
                </a:solidFill>
                <a:latin typeface="Public Sans" pitchFamily="34" charset="0"/>
                <a:ea typeface="Public Sans" pitchFamily="34" charset="-122"/>
                <a:cs typeface="Public Sans" pitchFamily="34" charset="-120"/>
              </a:rPr>
              <a:t>SSE</a:t>
            </a:r>
            <a:endParaRPr lang="en-US" sz="1200" dirty="0"/>
          </a:p>
        </p:txBody>
      </p:sp>
      <p:pic>
        <p:nvPicPr>
          <p:cNvPr id="41" name="Image 3" descr="connector"/>
          <p:cNvPicPr>
            <a:picLocks noChangeAspect="1"/>
          </p:cNvPicPr>
          <p:nvPr/>
        </p:nvPicPr>
        <p:blipFill>
          <a:blip r:embed="rId2"/>
          <a:srcRect/>
          <a:stretch>
            <a:fillRect/>
          </a:stretch>
        </p:blipFill>
        <p:spPr>
          <a:xfrm>
            <a:off x="7759700" y="2520950"/>
            <a:ext cx="965200" cy="101600"/>
          </a:xfrm>
          <a:prstGeom prst="rect">
            <a:avLst/>
          </a:prstGeom>
        </p:spPr>
      </p:pic>
      <p:sp>
        <p:nvSpPr>
          <p:cNvPr id="42" name="Text 36"/>
          <p:cNvSpPr/>
          <p:nvPr/>
        </p:nvSpPr>
        <p:spPr>
          <a:xfrm>
            <a:off x="7772400" y="2298700"/>
            <a:ext cx="9398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Prisma</a:t>
            </a:r>
            <a:endParaRPr lang="en-US" sz="1200" dirty="0"/>
          </a:p>
        </p:txBody>
      </p:sp>
      <p:pic>
        <p:nvPicPr>
          <p:cNvPr id="43" name="Image 4" descr="connector"/>
          <p:cNvPicPr>
            <a:picLocks noChangeAspect="1"/>
          </p:cNvPicPr>
          <p:nvPr/>
        </p:nvPicPr>
        <p:blipFill>
          <a:blip r:embed="rId4"/>
          <a:srcRect/>
          <a:stretch>
            <a:fillRect/>
          </a:stretch>
        </p:blipFill>
        <p:spPr>
          <a:xfrm>
            <a:off x="7759700" y="4267200"/>
            <a:ext cx="965200" cy="101600"/>
          </a:xfrm>
          <a:prstGeom prst="rect">
            <a:avLst/>
          </a:prstGeom>
        </p:spPr>
      </p:pic>
      <p:sp>
        <p:nvSpPr>
          <p:cNvPr id="44" name="Text 37"/>
          <p:cNvSpPr/>
          <p:nvPr/>
        </p:nvSpPr>
        <p:spPr>
          <a:xfrm>
            <a:off x="7772400" y="4044950"/>
            <a:ext cx="9398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0E7C86"/>
                </a:solidFill>
                <a:latin typeface="Public Sans" pitchFamily="34" charset="0"/>
                <a:ea typeface="Public Sans" pitchFamily="34" charset="-122"/>
                <a:cs typeface="Public Sans" pitchFamily="34" charset="-120"/>
              </a:rPr>
              <a:t>Events</a:t>
            </a:r>
            <a:endParaRPr lang="en-US" sz="1200" dirty="0"/>
          </a:p>
        </p:txBody>
      </p:sp>
      <p:sp>
        <p:nvSpPr>
          <p:cNvPr id="45" name="Text 38"/>
          <p:cNvSpPr/>
          <p:nvPr/>
        </p:nvSpPr>
        <p:spPr>
          <a:xfrm>
            <a:off x="812800" y="5270500"/>
            <a:ext cx="10566400" cy="508000"/>
          </a:xfrm>
          <a:prstGeom prst="roundRect">
            <a:avLst>
              <a:gd name="adj" fmla="val 20000"/>
            </a:avLst>
          </a:prstGeom>
          <a:solidFill>
            <a:srgbClr val="1F2430"/>
          </a:solidFill>
        </p:spPr>
        <p:txBody>
          <a:bodyPr wrap="square" lIns="0" tIns="0" rIns="0" bIns="0" rtlCol="0" anchor="ctr">
            <a:normAutofit/>
          </a:bodyPr>
          <a:lstStyle/>
          <a:p>
            <a:pPr marL="0" indent="0" algn="ctr">
              <a:lnSpc>
                <a:spcPts val="1960"/>
              </a:lnSpc>
              <a:buNone/>
            </a:pPr>
            <a:r>
              <a:rPr lang="en-US" sz="1400" b="1" dirty="0">
                <a:solidFill>
                  <a:srgbClr val="F3EEE8"/>
                </a:solidFill>
                <a:latin typeface="Public Sans" pitchFamily="34" charset="0"/>
                <a:ea typeface="Public Sans" pitchFamily="34" charset="-122"/>
                <a:cs typeface="Public Sans" pitchFamily="34" charset="-120"/>
              </a:rPr>
              <a:t>Deployment</a:t>
            </a:r>
            <a:r>
              <a:rPr lang="en-US" sz="1400" dirty="0">
                <a:solidFill>
                  <a:srgbClr val="F3EEE8"/>
                </a:solidFill>
                <a:latin typeface="Public Sans" pitchFamily="34" charset="0"/>
                <a:ea typeface="Public Sans" pitchFamily="34" charset="-122"/>
                <a:cs typeface="Public Sans" pitchFamily="34" charset="-120"/>
              </a:rPr>
              <a:t> · Frontend and backend ship independently · Backend on Cloudflare Workers or Render</a:t>
            </a:r>
            <a:endParaRPr lang="en-US" sz="1400" dirty="0"/>
          </a:p>
        </p:txBody>
      </p:sp>
      <p:sp>
        <p:nvSpPr>
          <p:cNvPr id="46" name="Text 39"/>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47" name="Text 40"/>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1 · PROJECT DESIGN</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Four user roles</a:t>
            </a:r>
            <a:endParaRPr lang="en-US" sz="2800" dirty="0"/>
          </a:p>
        </p:txBody>
      </p:sp>
      <p:sp>
        <p:nvSpPr>
          <p:cNvPr id="5" name="Shape 2"/>
          <p:cNvSpPr/>
          <p:nvPr/>
        </p:nvSpPr>
        <p:spPr>
          <a:xfrm>
            <a:off x="815975" y="1692225"/>
            <a:ext cx="2482850" cy="4146600"/>
          </a:xfrm>
          <a:prstGeom prst="roundRect">
            <a:avLst>
              <a:gd name="adj" fmla="val 4987"/>
            </a:avLst>
          </a:prstGeom>
          <a:solidFill>
            <a:srgbClr val="FFFFFF"/>
          </a:solidFill>
          <a:ln w="6350">
            <a:solidFill>
              <a:srgbClr val="E6DFD8"/>
            </a:solidFill>
            <a:prstDash val="solid"/>
          </a:ln>
        </p:spPr>
      </p:sp>
      <p:sp>
        <p:nvSpPr>
          <p:cNvPr id="6" name="Shape 3"/>
          <p:cNvSpPr/>
          <p:nvPr/>
        </p:nvSpPr>
        <p:spPr>
          <a:xfrm>
            <a:off x="1022350" y="1898600"/>
            <a:ext cx="457200" cy="457200"/>
          </a:xfrm>
          <a:prstGeom prst="roundRect">
            <a:avLst>
              <a:gd name="adj" fmla="val 50000"/>
            </a:avLst>
          </a:prstGeom>
          <a:solidFill>
            <a:srgbClr val="F7E4E4"/>
          </a:solidFill>
        </p:spPr>
      </p:sp>
      <p:pic>
        <p:nvPicPr>
          <p:cNvPr id="7" name="Image 1" descr="GraduationCap"/>
          <p:cNvPicPr>
            <a:picLocks noChangeAspect="1"/>
          </p:cNvPicPr>
          <p:nvPr/>
        </p:nvPicPr>
        <p:blipFill>
          <a:blip r:embed="rId2"/>
          <a:srcRect/>
          <a:stretch>
            <a:fillRect/>
          </a:stretch>
        </p:blipFill>
        <p:spPr>
          <a:xfrm>
            <a:off x="1123950" y="2000200"/>
            <a:ext cx="254000" cy="254000"/>
          </a:xfrm>
          <a:prstGeom prst="rect">
            <a:avLst/>
          </a:prstGeom>
        </p:spPr>
      </p:pic>
      <p:sp>
        <p:nvSpPr>
          <p:cNvPr id="8" name="Text 4"/>
          <p:cNvSpPr/>
          <p:nvPr/>
        </p:nvSpPr>
        <p:spPr>
          <a:xfrm>
            <a:off x="1022350" y="2457400"/>
            <a:ext cx="2132203"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Student</a:t>
            </a:r>
            <a:endParaRPr lang="en-US" sz="1800" dirty="0"/>
          </a:p>
        </p:txBody>
      </p:sp>
      <p:sp>
        <p:nvSpPr>
          <p:cNvPr id="9" name="Text 5"/>
          <p:cNvSpPr/>
          <p:nvPr/>
        </p:nvSpPr>
        <p:spPr>
          <a:xfrm>
            <a:off x="1022350" y="2833291"/>
            <a:ext cx="2132203" cy="25653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B30D12"/>
                </a:solidFill>
                <a:latin typeface="Public Sans" pitchFamily="34" charset="0"/>
                <a:ea typeface="Public Sans" pitchFamily="34" charset="-122"/>
                <a:cs typeface="Public Sans" pitchFamily="34" charset="-120"/>
              </a:rPr>
              <a:t>Registered customer</a:t>
            </a:r>
            <a:endParaRPr lang="en-US" sz="1300" dirty="0"/>
          </a:p>
        </p:txBody>
      </p:sp>
      <p:sp>
        <p:nvSpPr>
          <p:cNvPr id="10" name="Text 6"/>
          <p:cNvSpPr/>
          <p:nvPr/>
        </p:nvSpPr>
        <p:spPr>
          <a:xfrm>
            <a:off x="1022350" y="3166021"/>
            <a:ext cx="2132203" cy="1181050"/>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Browse live menu and stock</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Pre-order and pick a slot</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Track order status live</a:t>
            </a:r>
            <a:endParaRPr lang="en-US" sz="1300" dirty="0"/>
          </a:p>
        </p:txBody>
      </p:sp>
      <p:sp>
        <p:nvSpPr>
          <p:cNvPr id="11" name="Shape 7"/>
          <p:cNvSpPr/>
          <p:nvPr/>
        </p:nvSpPr>
        <p:spPr>
          <a:xfrm>
            <a:off x="3508375" y="1692225"/>
            <a:ext cx="2482850" cy="4146600"/>
          </a:xfrm>
          <a:prstGeom prst="roundRect">
            <a:avLst>
              <a:gd name="adj" fmla="val 4987"/>
            </a:avLst>
          </a:prstGeom>
          <a:solidFill>
            <a:srgbClr val="FFFFFF"/>
          </a:solidFill>
          <a:ln w="6350">
            <a:solidFill>
              <a:srgbClr val="E6DFD8"/>
            </a:solidFill>
            <a:prstDash val="solid"/>
          </a:ln>
        </p:spPr>
      </p:sp>
      <p:sp>
        <p:nvSpPr>
          <p:cNvPr id="12" name="Shape 8"/>
          <p:cNvSpPr/>
          <p:nvPr/>
        </p:nvSpPr>
        <p:spPr>
          <a:xfrm>
            <a:off x="3714750" y="1898600"/>
            <a:ext cx="457200" cy="457200"/>
          </a:xfrm>
          <a:prstGeom prst="roundRect">
            <a:avLst>
              <a:gd name="adj" fmla="val 50000"/>
            </a:avLst>
          </a:prstGeom>
          <a:solidFill>
            <a:srgbClr val="DDF0F1"/>
          </a:solidFill>
        </p:spPr>
      </p:sp>
      <p:pic>
        <p:nvPicPr>
          <p:cNvPr id="13" name="Image 2" descr="Key"/>
          <p:cNvPicPr>
            <a:picLocks noChangeAspect="1"/>
          </p:cNvPicPr>
          <p:nvPr/>
        </p:nvPicPr>
        <p:blipFill>
          <a:blip r:embed="rId3"/>
          <a:srcRect/>
          <a:stretch>
            <a:fillRect/>
          </a:stretch>
        </p:blipFill>
        <p:spPr>
          <a:xfrm>
            <a:off x="3816350" y="2000200"/>
            <a:ext cx="254000" cy="254000"/>
          </a:xfrm>
          <a:prstGeom prst="rect">
            <a:avLst/>
          </a:prstGeom>
        </p:spPr>
      </p:pic>
      <p:sp>
        <p:nvSpPr>
          <p:cNvPr id="14" name="Text 9"/>
          <p:cNvSpPr/>
          <p:nvPr/>
        </p:nvSpPr>
        <p:spPr>
          <a:xfrm>
            <a:off x="3714750" y="2457400"/>
            <a:ext cx="2132203"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Guest</a:t>
            </a:r>
            <a:endParaRPr lang="en-US" sz="1800" dirty="0"/>
          </a:p>
        </p:txBody>
      </p:sp>
      <p:sp>
        <p:nvSpPr>
          <p:cNvPr id="15" name="Text 10"/>
          <p:cNvSpPr/>
          <p:nvPr/>
        </p:nvSpPr>
        <p:spPr>
          <a:xfrm>
            <a:off x="3714750" y="2833291"/>
            <a:ext cx="2132203" cy="48766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0E7C86"/>
                </a:solidFill>
                <a:latin typeface="Public Sans" pitchFamily="34" charset="0"/>
                <a:ea typeface="Public Sans" pitchFamily="34" charset="-122"/>
                <a:cs typeface="Public Sans" pitchFamily="34" charset="-120"/>
              </a:rPr>
              <a:t>Campus visitor, no account</a:t>
            </a:r>
            <a:endParaRPr lang="en-US" sz="1300" dirty="0"/>
          </a:p>
        </p:txBody>
      </p:sp>
      <p:sp>
        <p:nvSpPr>
          <p:cNvPr id="16" name="Text 11"/>
          <p:cNvSpPr/>
          <p:nvPr/>
        </p:nvSpPr>
        <p:spPr>
          <a:xfrm>
            <a:off x="3714750" y="3397151"/>
            <a:ext cx="2132203" cy="1412180"/>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Enters through a campus QR</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Session-scoped ordering</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Gets a signed pickup token</a:t>
            </a:r>
            <a:endParaRPr lang="en-US" sz="1300" dirty="0"/>
          </a:p>
        </p:txBody>
      </p:sp>
      <p:sp>
        <p:nvSpPr>
          <p:cNvPr id="17" name="Shape 12"/>
          <p:cNvSpPr/>
          <p:nvPr/>
        </p:nvSpPr>
        <p:spPr>
          <a:xfrm>
            <a:off x="6200775" y="1692225"/>
            <a:ext cx="2482850" cy="4146600"/>
          </a:xfrm>
          <a:prstGeom prst="roundRect">
            <a:avLst>
              <a:gd name="adj" fmla="val 4987"/>
            </a:avLst>
          </a:prstGeom>
          <a:solidFill>
            <a:srgbClr val="FFFFFF"/>
          </a:solidFill>
          <a:ln w="6350">
            <a:solidFill>
              <a:srgbClr val="E6DFD8"/>
            </a:solidFill>
            <a:prstDash val="solid"/>
          </a:ln>
        </p:spPr>
      </p:sp>
      <p:sp>
        <p:nvSpPr>
          <p:cNvPr id="18" name="Shape 13"/>
          <p:cNvSpPr/>
          <p:nvPr/>
        </p:nvSpPr>
        <p:spPr>
          <a:xfrm>
            <a:off x="6407150" y="1898600"/>
            <a:ext cx="457200" cy="457200"/>
          </a:xfrm>
          <a:prstGeom prst="roundRect">
            <a:avLst>
              <a:gd name="adj" fmla="val 50000"/>
            </a:avLst>
          </a:prstGeom>
          <a:solidFill>
            <a:srgbClr val="F7E4E4"/>
          </a:solidFill>
        </p:spPr>
      </p:sp>
      <p:pic>
        <p:nvPicPr>
          <p:cNvPr id="19" name="Image 3" descr="Tool"/>
          <p:cNvPicPr>
            <a:picLocks noChangeAspect="1"/>
          </p:cNvPicPr>
          <p:nvPr/>
        </p:nvPicPr>
        <p:blipFill>
          <a:blip r:embed="rId4"/>
          <a:srcRect/>
          <a:stretch>
            <a:fillRect/>
          </a:stretch>
        </p:blipFill>
        <p:spPr>
          <a:xfrm>
            <a:off x="6508750" y="2000200"/>
            <a:ext cx="254000" cy="254000"/>
          </a:xfrm>
          <a:prstGeom prst="rect">
            <a:avLst/>
          </a:prstGeom>
        </p:spPr>
      </p:pic>
      <p:sp>
        <p:nvSpPr>
          <p:cNvPr id="20" name="Text 14"/>
          <p:cNvSpPr/>
          <p:nvPr/>
        </p:nvSpPr>
        <p:spPr>
          <a:xfrm>
            <a:off x="6407150" y="2457400"/>
            <a:ext cx="2132203"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Kitchen admin</a:t>
            </a:r>
            <a:endParaRPr lang="en-US" sz="1800" dirty="0"/>
          </a:p>
        </p:txBody>
      </p:sp>
      <p:sp>
        <p:nvSpPr>
          <p:cNvPr id="21" name="Text 15"/>
          <p:cNvSpPr/>
          <p:nvPr/>
        </p:nvSpPr>
        <p:spPr>
          <a:xfrm>
            <a:off x="6407150" y="2833291"/>
            <a:ext cx="2132203" cy="25653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B30D12"/>
                </a:solidFill>
                <a:latin typeface="Public Sans" pitchFamily="34" charset="0"/>
                <a:ea typeface="Public Sans" pitchFamily="34" charset="-122"/>
                <a:cs typeface="Public Sans" pitchFamily="34" charset="-120"/>
              </a:rPr>
              <a:t>Runs one kitchen</a:t>
            </a:r>
            <a:endParaRPr lang="en-US" sz="1300" dirty="0"/>
          </a:p>
        </p:txBody>
      </p:sp>
      <p:sp>
        <p:nvSpPr>
          <p:cNvPr id="22" name="Text 16"/>
          <p:cNvSpPr/>
          <p:nvPr/>
        </p:nvSpPr>
        <p:spPr>
          <a:xfrm>
            <a:off x="6407150" y="3166021"/>
            <a:ext cx="2132203" cy="949920"/>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Live order board over SSE</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Moves orders to ready</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Edits menu and stock</a:t>
            </a:r>
            <a:endParaRPr lang="en-US" sz="1300" dirty="0"/>
          </a:p>
        </p:txBody>
      </p:sp>
      <p:sp>
        <p:nvSpPr>
          <p:cNvPr id="23" name="Shape 17"/>
          <p:cNvSpPr/>
          <p:nvPr/>
        </p:nvSpPr>
        <p:spPr>
          <a:xfrm>
            <a:off x="8893175" y="1692225"/>
            <a:ext cx="2482850" cy="4146600"/>
          </a:xfrm>
          <a:prstGeom prst="roundRect">
            <a:avLst>
              <a:gd name="adj" fmla="val 4987"/>
            </a:avLst>
          </a:prstGeom>
          <a:solidFill>
            <a:srgbClr val="FFFFFF"/>
          </a:solidFill>
          <a:ln w="6350">
            <a:solidFill>
              <a:srgbClr val="E6DFD8"/>
            </a:solidFill>
            <a:prstDash val="solid"/>
          </a:ln>
        </p:spPr>
      </p:sp>
      <p:sp>
        <p:nvSpPr>
          <p:cNvPr id="24" name="Shape 18"/>
          <p:cNvSpPr/>
          <p:nvPr/>
        </p:nvSpPr>
        <p:spPr>
          <a:xfrm>
            <a:off x="9099550" y="1898600"/>
            <a:ext cx="457200" cy="457200"/>
          </a:xfrm>
          <a:prstGeom prst="roundRect">
            <a:avLst>
              <a:gd name="adj" fmla="val 50000"/>
            </a:avLst>
          </a:prstGeom>
          <a:solidFill>
            <a:srgbClr val="DDF0F1"/>
          </a:solidFill>
        </p:spPr>
      </p:sp>
      <p:pic>
        <p:nvPicPr>
          <p:cNvPr id="25" name="Image 4" descr="Verified"/>
          <p:cNvPicPr>
            <a:picLocks noChangeAspect="1"/>
          </p:cNvPicPr>
          <p:nvPr/>
        </p:nvPicPr>
        <p:blipFill>
          <a:blip r:embed="rId5"/>
          <a:srcRect/>
          <a:stretch>
            <a:fillRect/>
          </a:stretch>
        </p:blipFill>
        <p:spPr>
          <a:xfrm>
            <a:off x="9201150" y="2000200"/>
            <a:ext cx="254000" cy="254000"/>
          </a:xfrm>
          <a:prstGeom prst="rect">
            <a:avLst/>
          </a:prstGeom>
        </p:spPr>
      </p:pic>
      <p:sp>
        <p:nvSpPr>
          <p:cNvPr id="26" name="Text 19"/>
          <p:cNvSpPr/>
          <p:nvPr/>
        </p:nvSpPr>
        <p:spPr>
          <a:xfrm>
            <a:off x="9099550" y="2457400"/>
            <a:ext cx="2132203"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Superadmin</a:t>
            </a:r>
            <a:endParaRPr lang="en-US" sz="1800" dirty="0"/>
          </a:p>
        </p:txBody>
      </p:sp>
      <p:sp>
        <p:nvSpPr>
          <p:cNvPr id="27" name="Text 20"/>
          <p:cNvSpPr/>
          <p:nvPr/>
        </p:nvSpPr>
        <p:spPr>
          <a:xfrm>
            <a:off x="9099550" y="2833291"/>
            <a:ext cx="2132203" cy="25653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0E7C86"/>
                </a:solidFill>
                <a:latin typeface="Public Sans" pitchFamily="34" charset="0"/>
                <a:ea typeface="Public Sans" pitchFamily="34" charset="-122"/>
                <a:cs typeface="Public Sans" pitchFamily="34" charset="-120"/>
              </a:rPr>
              <a:t>Campus-wide oversight</a:t>
            </a:r>
            <a:endParaRPr lang="en-US" sz="1300" dirty="0"/>
          </a:p>
        </p:txBody>
      </p:sp>
      <p:sp>
        <p:nvSpPr>
          <p:cNvPr id="28" name="Text 21"/>
          <p:cNvSpPr/>
          <p:nvPr/>
        </p:nvSpPr>
        <p:spPr>
          <a:xfrm>
            <a:off x="9099550" y="3166021"/>
            <a:ext cx="2132203" cy="949920"/>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Manages kitchens and admins</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Full audit trail</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Sees both kitchens</a:t>
            </a:r>
            <a:endParaRPr lang="en-US" sz="1300" dirty="0"/>
          </a:p>
        </p:txBody>
      </p:sp>
      <p:sp>
        <p:nvSpPr>
          <p:cNvPr id="29" name="Text 22"/>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30" name="Text 23"/>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1 · PROJECT DESIGN</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Order lifecycle</a:t>
            </a:r>
            <a:endParaRPr lang="en-US" sz="2800" dirty="0"/>
          </a:p>
        </p:txBody>
      </p:sp>
      <p:sp>
        <p:nvSpPr>
          <p:cNvPr id="5" name="Shape 2"/>
          <p:cNvSpPr/>
          <p:nvPr/>
        </p:nvSpPr>
        <p:spPr>
          <a:xfrm>
            <a:off x="815975" y="1844675"/>
            <a:ext cx="1771650" cy="1835150"/>
          </a:xfrm>
          <a:prstGeom prst="roundRect">
            <a:avLst>
              <a:gd name="adj" fmla="val 6989"/>
            </a:avLst>
          </a:prstGeom>
          <a:solidFill>
            <a:srgbClr val="FFFFFF"/>
          </a:solidFill>
          <a:ln w="6350">
            <a:solidFill>
              <a:srgbClr val="E6DFD8"/>
            </a:solidFill>
            <a:prstDash val="solid"/>
          </a:ln>
        </p:spPr>
      </p:sp>
      <p:sp>
        <p:nvSpPr>
          <p:cNvPr id="6" name="Text 3"/>
          <p:cNvSpPr/>
          <p:nvPr/>
        </p:nvSpPr>
        <p:spPr>
          <a:xfrm>
            <a:off x="971550" y="2000250"/>
            <a:ext cx="355600" cy="355600"/>
          </a:xfrm>
          <a:prstGeom prst="roundRect">
            <a:avLst>
              <a:gd name="adj" fmla="val 5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1</a:t>
            </a:r>
            <a:endParaRPr lang="en-US" sz="1400" dirty="0"/>
          </a:p>
        </p:txBody>
      </p:sp>
      <p:sp>
        <p:nvSpPr>
          <p:cNvPr id="7" name="Text 4"/>
          <p:cNvSpPr/>
          <p:nvPr/>
        </p:nvSpPr>
        <p:spPr>
          <a:xfrm>
            <a:off x="9715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Cart</a:t>
            </a:r>
            <a:endParaRPr lang="en-US" sz="1600" dirty="0"/>
          </a:p>
        </p:txBody>
      </p:sp>
      <p:sp>
        <p:nvSpPr>
          <p:cNvPr id="8" name="Text 5"/>
          <p:cNvSpPr/>
          <p:nvPr/>
        </p:nvSpPr>
        <p:spPr>
          <a:xfrm>
            <a:off x="971550" y="2802880"/>
            <a:ext cx="1511300" cy="48766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Browse live menu, add items.</a:t>
            </a:r>
            <a:endParaRPr lang="en-US" sz="1300" dirty="0"/>
          </a:p>
        </p:txBody>
      </p:sp>
      <p:sp>
        <p:nvSpPr>
          <p:cNvPr id="9" name="Shape 6"/>
          <p:cNvSpPr/>
          <p:nvPr/>
        </p:nvSpPr>
        <p:spPr>
          <a:xfrm>
            <a:off x="3013075" y="1844675"/>
            <a:ext cx="1771650" cy="1835150"/>
          </a:xfrm>
          <a:prstGeom prst="roundRect">
            <a:avLst>
              <a:gd name="adj" fmla="val 6989"/>
            </a:avLst>
          </a:prstGeom>
          <a:solidFill>
            <a:srgbClr val="FFFFFF"/>
          </a:solidFill>
          <a:ln w="6350">
            <a:solidFill>
              <a:srgbClr val="E6DFD8"/>
            </a:solidFill>
            <a:prstDash val="solid"/>
          </a:ln>
        </p:spPr>
      </p:sp>
      <p:sp>
        <p:nvSpPr>
          <p:cNvPr id="10" name="Text 7"/>
          <p:cNvSpPr/>
          <p:nvPr/>
        </p:nvSpPr>
        <p:spPr>
          <a:xfrm>
            <a:off x="3168650" y="2000250"/>
            <a:ext cx="355600" cy="355600"/>
          </a:xfrm>
          <a:prstGeom prst="roundRect">
            <a:avLst>
              <a:gd name="adj" fmla="val 5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2</a:t>
            </a:r>
            <a:endParaRPr lang="en-US" sz="1400" dirty="0"/>
          </a:p>
        </p:txBody>
      </p:sp>
      <p:sp>
        <p:nvSpPr>
          <p:cNvPr id="11" name="Text 8"/>
          <p:cNvSpPr/>
          <p:nvPr/>
        </p:nvSpPr>
        <p:spPr>
          <a:xfrm>
            <a:off x="31686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Split</a:t>
            </a:r>
            <a:endParaRPr lang="en-US" sz="1600" dirty="0"/>
          </a:p>
        </p:txBody>
      </p:sp>
      <p:sp>
        <p:nvSpPr>
          <p:cNvPr id="12" name="Text 9"/>
          <p:cNvSpPr/>
          <p:nvPr/>
        </p:nvSpPr>
        <p:spPr>
          <a:xfrm>
            <a:off x="31686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One order per kitchen: Snacks and Meals.</a:t>
            </a:r>
            <a:endParaRPr lang="en-US" sz="1300" dirty="0"/>
          </a:p>
        </p:txBody>
      </p:sp>
      <p:sp>
        <p:nvSpPr>
          <p:cNvPr id="13" name="Shape 10"/>
          <p:cNvSpPr/>
          <p:nvPr/>
        </p:nvSpPr>
        <p:spPr>
          <a:xfrm>
            <a:off x="5210175" y="1844675"/>
            <a:ext cx="1771650" cy="1835150"/>
          </a:xfrm>
          <a:prstGeom prst="roundRect">
            <a:avLst>
              <a:gd name="adj" fmla="val 6989"/>
            </a:avLst>
          </a:prstGeom>
          <a:solidFill>
            <a:srgbClr val="FFFFFF"/>
          </a:solidFill>
          <a:ln w="6350">
            <a:solidFill>
              <a:srgbClr val="E6DFD8"/>
            </a:solidFill>
            <a:prstDash val="solid"/>
          </a:ln>
        </p:spPr>
      </p:sp>
      <p:sp>
        <p:nvSpPr>
          <p:cNvPr id="14" name="Text 11"/>
          <p:cNvSpPr/>
          <p:nvPr/>
        </p:nvSpPr>
        <p:spPr>
          <a:xfrm>
            <a:off x="5365750" y="2000250"/>
            <a:ext cx="355600" cy="355600"/>
          </a:xfrm>
          <a:prstGeom prst="roundRect">
            <a:avLst>
              <a:gd name="adj" fmla="val 5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3</a:t>
            </a:r>
            <a:endParaRPr lang="en-US" sz="1400" dirty="0"/>
          </a:p>
        </p:txBody>
      </p:sp>
      <p:sp>
        <p:nvSpPr>
          <p:cNvPr id="15" name="Text 12"/>
          <p:cNvSpPr/>
          <p:nvPr/>
        </p:nvSpPr>
        <p:spPr>
          <a:xfrm>
            <a:off x="53657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Reserve</a:t>
            </a:r>
            <a:endParaRPr lang="en-US" sz="1600" dirty="0"/>
          </a:p>
        </p:txBody>
      </p:sp>
      <p:sp>
        <p:nvSpPr>
          <p:cNvPr id="16" name="Text 13"/>
          <p:cNvSpPr/>
          <p:nvPr/>
        </p:nvSpPr>
        <p:spPr>
          <a:xfrm>
            <a:off x="53657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Stock reserved atomically, never oversold.</a:t>
            </a:r>
            <a:endParaRPr lang="en-US" sz="1300" dirty="0"/>
          </a:p>
        </p:txBody>
      </p:sp>
      <p:sp>
        <p:nvSpPr>
          <p:cNvPr id="17" name="Shape 14"/>
          <p:cNvSpPr/>
          <p:nvPr/>
        </p:nvSpPr>
        <p:spPr>
          <a:xfrm>
            <a:off x="7407275" y="1844675"/>
            <a:ext cx="1771650" cy="1835150"/>
          </a:xfrm>
          <a:prstGeom prst="roundRect">
            <a:avLst>
              <a:gd name="adj" fmla="val 6989"/>
            </a:avLst>
          </a:prstGeom>
          <a:solidFill>
            <a:srgbClr val="FFFFFF"/>
          </a:solidFill>
          <a:ln w="6350">
            <a:solidFill>
              <a:srgbClr val="E6DFD8"/>
            </a:solidFill>
            <a:prstDash val="solid"/>
          </a:ln>
        </p:spPr>
      </p:sp>
      <p:sp>
        <p:nvSpPr>
          <p:cNvPr id="18" name="Text 15"/>
          <p:cNvSpPr/>
          <p:nvPr/>
        </p:nvSpPr>
        <p:spPr>
          <a:xfrm>
            <a:off x="7562850" y="2000250"/>
            <a:ext cx="355600" cy="355600"/>
          </a:xfrm>
          <a:prstGeom prst="roundRect">
            <a:avLst>
              <a:gd name="adj" fmla="val 5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4</a:t>
            </a:r>
            <a:endParaRPr lang="en-US" sz="1400" dirty="0"/>
          </a:p>
        </p:txBody>
      </p:sp>
      <p:sp>
        <p:nvSpPr>
          <p:cNvPr id="19" name="Text 16"/>
          <p:cNvSpPr/>
          <p:nvPr/>
        </p:nvSpPr>
        <p:spPr>
          <a:xfrm>
            <a:off x="75628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Prepare</a:t>
            </a:r>
            <a:endParaRPr lang="en-US" sz="1600" dirty="0"/>
          </a:p>
        </p:txBody>
      </p:sp>
      <p:sp>
        <p:nvSpPr>
          <p:cNvPr id="20" name="Text 17"/>
          <p:cNvSpPr/>
          <p:nvPr/>
        </p:nvSpPr>
        <p:spPr>
          <a:xfrm>
            <a:off x="7562850" y="2802880"/>
            <a:ext cx="1511300" cy="48766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Live board over SSE, no polling.</a:t>
            </a:r>
            <a:endParaRPr lang="en-US" sz="1300" dirty="0"/>
          </a:p>
        </p:txBody>
      </p:sp>
      <p:sp>
        <p:nvSpPr>
          <p:cNvPr id="21" name="Shape 18"/>
          <p:cNvSpPr/>
          <p:nvPr/>
        </p:nvSpPr>
        <p:spPr>
          <a:xfrm>
            <a:off x="9604375" y="1844675"/>
            <a:ext cx="1771650" cy="1835150"/>
          </a:xfrm>
          <a:prstGeom prst="roundRect">
            <a:avLst>
              <a:gd name="adj" fmla="val 6989"/>
            </a:avLst>
          </a:prstGeom>
          <a:solidFill>
            <a:srgbClr val="FFFFFF"/>
          </a:solidFill>
          <a:ln w="6350">
            <a:solidFill>
              <a:srgbClr val="E6DFD8"/>
            </a:solidFill>
            <a:prstDash val="solid"/>
          </a:ln>
        </p:spPr>
      </p:sp>
      <p:sp>
        <p:nvSpPr>
          <p:cNvPr id="22" name="Text 19"/>
          <p:cNvSpPr/>
          <p:nvPr/>
        </p:nvSpPr>
        <p:spPr>
          <a:xfrm>
            <a:off x="9759950" y="2000250"/>
            <a:ext cx="355600" cy="355600"/>
          </a:xfrm>
          <a:prstGeom prst="roundRect">
            <a:avLst>
              <a:gd name="adj" fmla="val 5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5</a:t>
            </a:r>
            <a:endParaRPr lang="en-US" sz="1400" dirty="0"/>
          </a:p>
        </p:txBody>
      </p:sp>
      <p:sp>
        <p:nvSpPr>
          <p:cNvPr id="23" name="Text 20"/>
          <p:cNvSpPr/>
          <p:nvPr/>
        </p:nvSpPr>
        <p:spPr>
          <a:xfrm>
            <a:off x="97599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Collect</a:t>
            </a:r>
            <a:endParaRPr lang="en-US" sz="1600" dirty="0"/>
          </a:p>
        </p:txBody>
      </p:sp>
      <p:sp>
        <p:nvSpPr>
          <p:cNvPr id="24" name="Text 21"/>
          <p:cNvSpPr/>
          <p:nvPr/>
        </p:nvSpPr>
        <p:spPr>
          <a:xfrm>
            <a:off x="97599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Signed QR token verified at the counter.</a:t>
            </a:r>
            <a:endParaRPr lang="en-US" sz="1300" dirty="0"/>
          </a:p>
        </p:txBody>
      </p:sp>
      <p:pic>
        <p:nvPicPr>
          <p:cNvPr id="25" name="Image 1" descr="connector"/>
          <p:cNvPicPr>
            <a:picLocks noChangeAspect="1"/>
          </p:cNvPicPr>
          <p:nvPr/>
        </p:nvPicPr>
        <p:blipFill>
          <a:blip r:embed="rId2"/>
          <a:srcRect/>
          <a:stretch>
            <a:fillRect/>
          </a:stretch>
        </p:blipFill>
        <p:spPr>
          <a:xfrm>
            <a:off x="2552700" y="2711450"/>
            <a:ext cx="495300" cy="101600"/>
          </a:xfrm>
          <a:prstGeom prst="rect">
            <a:avLst/>
          </a:prstGeom>
        </p:spPr>
      </p:pic>
      <p:pic>
        <p:nvPicPr>
          <p:cNvPr id="26" name="Image 2" descr="connector"/>
          <p:cNvPicPr>
            <a:picLocks noChangeAspect="1"/>
          </p:cNvPicPr>
          <p:nvPr/>
        </p:nvPicPr>
        <p:blipFill>
          <a:blip r:embed="rId2"/>
          <a:srcRect/>
          <a:stretch>
            <a:fillRect/>
          </a:stretch>
        </p:blipFill>
        <p:spPr>
          <a:xfrm>
            <a:off x="4749800" y="2711450"/>
            <a:ext cx="495300" cy="101600"/>
          </a:xfrm>
          <a:prstGeom prst="rect">
            <a:avLst/>
          </a:prstGeom>
        </p:spPr>
      </p:pic>
      <p:pic>
        <p:nvPicPr>
          <p:cNvPr id="27" name="Image 3" descr="connector"/>
          <p:cNvPicPr>
            <a:picLocks noChangeAspect="1"/>
          </p:cNvPicPr>
          <p:nvPr/>
        </p:nvPicPr>
        <p:blipFill>
          <a:blip r:embed="rId2"/>
          <a:srcRect/>
          <a:stretch>
            <a:fillRect/>
          </a:stretch>
        </p:blipFill>
        <p:spPr>
          <a:xfrm>
            <a:off x="6946900" y="2711450"/>
            <a:ext cx="495300" cy="101600"/>
          </a:xfrm>
          <a:prstGeom prst="rect">
            <a:avLst/>
          </a:prstGeom>
        </p:spPr>
      </p:pic>
      <p:pic>
        <p:nvPicPr>
          <p:cNvPr id="28" name="Image 4" descr="connector"/>
          <p:cNvPicPr>
            <a:picLocks noChangeAspect="1"/>
          </p:cNvPicPr>
          <p:nvPr/>
        </p:nvPicPr>
        <p:blipFill>
          <a:blip r:embed="rId2"/>
          <a:srcRect/>
          <a:stretch>
            <a:fillRect/>
          </a:stretch>
        </p:blipFill>
        <p:spPr>
          <a:xfrm>
            <a:off x="9144000" y="2711450"/>
            <a:ext cx="495300" cy="101600"/>
          </a:xfrm>
          <a:prstGeom prst="rect">
            <a:avLst/>
          </a:prstGeom>
        </p:spPr>
      </p:pic>
      <p:sp>
        <p:nvSpPr>
          <p:cNvPr id="29" name="Text 22"/>
          <p:cNvSpPr/>
          <p:nvPr/>
        </p:nvSpPr>
        <p:spPr>
          <a:xfrm>
            <a:off x="812800" y="39370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0E7C86"/>
                </a:solidFill>
                <a:latin typeface="Public Sans" pitchFamily="34" charset="0"/>
                <a:ea typeface="Public Sans" pitchFamily="34" charset="-122"/>
                <a:cs typeface="Public Sans" pitchFamily="34" charset="-120"/>
              </a:rPr>
              <a:t>ORDER STATES</a:t>
            </a:r>
            <a:endParaRPr lang="en-US" sz="1200" dirty="0"/>
          </a:p>
        </p:txBody>
      </p:sp>
      <p:sp>
        <p:nvSpPr>
          <p:cNvPr id="30" name="Text 23"/>
          <p:cNvSpPr/>
          <p:nvPr/>
        </p:nvSpPr>
        <p:spPr>
          <a:xfrm>
            <a:off x="812800" y="4251920"/>
            <a:ext cx="1018084" cy="383530"/>
          </a:xfrm>
          <a:prstGeom prst="roundRect">
            <a:avLst>
              <a:gd name="adj" fmla="val 50000"/>
            </a:avLst>
          </a:prstGeom>
          <a:solidFill>
            <a:srgbClr val="1F2430"/>
          </a:solidFill>
        </p:spPr>
        <p:txBody>
          <a:bodyPr wrap="none" lIns="0" tIns="0" rIns="0" bIns="0" rtlCol="0" anchor="ctr">
            <a:normAutofit/>
          </a:bodyPr>
          <a:lstStyle/>
          <a:p>
            <a:pPr marL="0" indent="0" algn="ctr">
              <a:lnSpc>
                <a:spcPts val="1820"/>
              </a:lnSpc>
              <a:buNone/>
            </a:pPr>
            <a:r>
              <a:rPr lang="en-US" sz="1300" b="1" dirty="0">
                <a:solidFill>
                  <a:srgbClr val="FFFFFF"/>
                </a:solidFill>
                <a:latin typeface="Public Sans" pitchFamily="34" charset="0"/>
                <a:ea typeface="Public Sans" pitchFamily="34" charset="-122"/>
                <a:cs typeface="Public Sans" pitchFamily="34" charset="-120"/>
              </a:rPr>
              <a:t>PLACED</a:t>
            </a:r>
            <a:endParaRPr lang="en-US" sz="1300" dirty="0"/>
          </a:p>
        </p:txBody>
      </p:sp>
      <p:pic>
        <p:nvPicPr>
          <p:cNvPr id="31" name="Image 5" descr="arrow-right"/>
          <p:cNvPicPr>
            <a:picLocks noChangeAspect="1"/>
          </p:cNvPicPr>
          <p:nvPr/>
        </p:nvPicPr>
        <p:blipFill>
          <a:blip r:embed="rId3"/>
          <a:srcRect/>
          <a:stretch>
            <a:fillRect/>
          </a:stretch>
        </p:blipFill>
        <p:spPr>
          <a:xfrm>
            <a:off x="1957884" y="4354761"/>
            <a:ext cx="355600" cy="177800"/>
          </a:xfrm>
          <a:prstGeom prst="rect">
            <a:avLst/>
          </a:prstGeom>
        </p:spPr>
      </p:pic>
      <p:sp>
        <p:nvSpPr>
          <p:cNvPr id="32" name="Text 24"/>
          <p:cNvSpPr/>
          <p:nvPr/>
        </p:nvSpPr>
        <p:spPr>
          <a:xfrm>
            <a:off x="2440484" y="4251920"/>
            <a:ext cx="1319857" cy="383530"/>
          </a:xfrm>
          <a:prstGeom prst="roundRect">
            <a:avLst>
              <a:gd name="adj" fmla="val 50000"/>
            </a:avLst>
          </a:prstGeom>
          <a:solidFill>
            <a:srgbClr val="1F2430"/>
          </a:solidFill>
        </p:spPr>
        <p:txBody>
          <a:bodyPr wrap="none" lIns="0" tIns="0" rIns="0" bIns="0" rtlCol="0" anchor="ctr">
            <a:normAutofit/>
          </a:bodyPr>
          <a:lstStyle/>
          <a:p>
            <a:pPr marL="0" indent="0" algn="ctr">
              <a:lnSpc>
                <a:spcPts val="1820"/>
              </a:lnSpc>
              <a:buNone/>
            </a:pPr>
            <a:r>
              <a:rPr lang="en-US" sz="1300" b="1" dirty="0">
                <a:solidFill>
                  <a:srgbClr val="FFFFFF"/>
                </a:solidFill>
                <a:latin typeface="Public Sans" pitchFamily="34" charset="0"/>
                <a:ea typeface="Public Sans" pitchFamily="34" charset="-122"/>
                <a:cs typeface="Public Sans" pitchFamily="34" charset="-120"/>
              </a:rPr>
              <a:t>PREPARING</a:t>
            </a:r>
            <a:endParaRPr lang="en-US" sz="1300" dirty="0"/>
          </a:p>
        </p:txBody>
      </p:sp>
      <p:pic>
        <p:nvPicPr>
          <p:cNvPr id="33" name="Image 6" descr="arrow-right"/>
          <p:cNvPicPr>
            <a:picLocks noChangeAspect="1"/>
          </p:cNvPicPr>
          <p:nvPr/>
        </p:nvPicPr>
        <p:blipFill>
          <a:blip r:embed="rId3"/>
          <a:srcRect/>
          <a:stretch>
            <a:fillRect/>
          </a:stretch>
        </p:blipFill>
        <p:spPr>
          <a:xfrm>
            <a:off x="3887341" y="4354761"/>
            <a:ext cx="355600" cy="177800"/>
          </a:xfrm>
          <a:prstGeom prst="rect">
            <a:avLst/>
          </a:prstGeom>
        </p:spPr>
      </p:pic>
      <p:sp>
        <p:nvSpPr>
          <p:cNvPr id="34" name="Text 25"/>
          <p:cNvSpPr/>
          <p:nvPr/>
        </p:nvSpPr>
        <p:spPr>
          <a:xfrm>
            <a:off x="4369941" y="4251920"/>
            <a:ext cx="916880" cy="383530"/>
          </a:xfrm>
          <a:prstGeom prst="roundRect">
            <a:avLst>
              <a:gd name="adj" fmla="val 50000"/>
            </a:avLst>
          </a:prstGeom>
          <a:solidFill>
            <a:srgbClr val="1F2430"/>
          </a:solidFill>
        </p:spPr>
        <p:txBody>
          <a:bodyPr wrap="none" lIns="0" tIns="0" rIns="0" bIns="0" rtlCol="0" anchor="ctr">
            <a:normAutofit/>
          </a:bodyPr>
          <a:lstStyle/>
          <a:p>
            <a:pPr marL="0" indent="0" algn="ctr">
              <a:lnSpc>
                <a:spcPts val="1820"/>
              </a:lnSpc>
              <a:buNone/>
            </a:pPr>
            <a:r>
              <a:rPr lang="en-US" sz="1300" b="1" dirty="0">
                <a:solidFill>
                  <a:srgbClr val="FFFFFF"/>
                </a:solidFill>
                <a:latin typeface="Public Sans" pitchFamily="34" charset="0"/>
                <a:ea typeface="Public Sans" pitchFamily="34" charset="-122"/>
                <a:cs typeface="Public Sans" pitchFamily="34" charset="-120"/>
              </a:rPr>
              <a:t>READY</a:t>
            </a:r>
            <a:endParaRPr lang="en-US" sz="1300" dirty="0"/>
          </a:p>
        </p:txBody>
      </p:sp>
      <p:pic>
        <p:nvPicPr>
          <p:cNvPr id="35" name="Image 7" descr="arrow-right"/>
          <p:cNvPicPr>
            <a:picLocks noChangeAspect="1"/>
          </p:cNvPicPr>
          <p:nvPr/>
        </p:nvPicPr>
        <p:blipFill>
          <a:blip r:embed="rId3"/>
          <a:srcRect/>
          <a:stretch>
            <a:fillRect/>
          </a:stretch>
        </p:blipFill>
        <p:spPr>
          <a:xfrm>
            <a:off x="5413821" y="4354761"/>
            <a:ext cx="355600" cy="177800"/>
          </a:xfrm>
          <a:prstGeom prst="rect">
            <a:avLst/>
          </a:prstGeom>
        </p:spPr>
      </p:pic>
      <p:sp>
        <p:nvSpPr>
          <p:cNvPr id="36" name="Text 26"/>
          <p:cNvSpPr/>
          <p:nvPr/>
        </p:nvSpPr>
        <p:spPr>
          <a:xfrm>
            <a:off x="5896421" y="4251920"/>
            <a:ext cx="1337370" cy="383530"/>
          </a:xfrm>
          <a:prstGeom prst="roundRect">
            <a:avLst>
              <a:gd name="adj" fmla="val 50000"/>
            </a:avLst>
          </a:prstGeom>
          <a:solidFill>
            <a:srgbClr val="0E7C86"/>
          </a:solidFill>
        </p:spPr>
        <p:txBody>
          <a:bodyPr wrap="none" lIns="0" tIns="0" rIns="0" bIns="0" rtlCol="0" anchor="ctr">
            <a:normAutofit/>
          </a:bodyPr>
          <a:lstStyle/>
          <a:p>
            <a:pPr marL="0" indent="0" algn="ctr">
              <a:lnSpc>
                <a:spcPts val="1820"/>
              </a:lnSpc>
              <a:buNone/>
            </a:pPr>
            <a:r>
              <a:rPr lang="en-US" sz="1300" b="1" dirty="0">
                <a:solidFill>
                  <a:srgbClr val="FFFFFF"/>
                </a:solidFill>
                <a:latin typeface="Public Sans" pitchFamily="34" charset="0"/>
                <a:ea typeface="Public Sans" pitchFamily="34" charset="-122"/>
                <a:cs typeface="Public Sans" pitchFamily="34" charset="-120"/>
              </a:rPr>
              <a:t>COLLECTED</a:t>
            </a:r>
            <a:endParaRPr lang="en-US" sz="1300" dirty="0"/>
          </a:p>
        </p:txBody>
      </p:sp>
      <p:sp>
        <p:nvSpPr>
          <p:cNvPr id="37" name="Text 27"/>
          <p:cNvSpPr/>
          <p:nvPr/>
        </p:nvSpPr>
        <p:spPr>
          <a:xfrm>
            <a:off x="9159429" y="4251920"/>
            <a:ext cx="2219771" cy="383530"/>
          </a:xfrm>
          <a:prstGeom prst="roundRect">
            <a:avLst>
              <a:gd name="adj" fmla="val 50000"/>
            </a:avLst>
          </a:prstGeom>
          <a:solidFill>
            <a:srgbClr val="B30D12"/>
          </a:solidFill>
        </p:spPr>
        <p:txBody>
          <a:bodyPr wrap="none" lIns="0" tIns="0" rIns="0" bIns="0" rtlCol="0" anchor="ctr">
            <a:normAutofit/>
          </a:bodyPr>
          <a:lstStyle/>
          <a:p>
            <a:pPr marL="0" indent="0" algn="ctr">
              <a:lnSpc>
                <a:spcPts val="1820"/>
              </a:lnSpc>
              <a:buNone/>
            </a:pPr>
            <a:r>
              <a:rPr lang="en-US" sz="1300" b="1" dirty="0">
                <a:solidFill>
                  <a:srgbClr val="FFFFFF"/>
                </a:solidFill>
                <a:latin typeface="Public Sans" pitchFamily="34" charset="0"/>
                <a:ea typeface="Public Sans" pitchFamily="34" charset="-122"/>
                <a:cs typeface="Public Sans" pitchFamily="34" charset="-120"/>
              </a:rPr>
              <a:t>CANCELLED / EXPIRED</a:t>
            </a:r>
            <a:endParaRPr lang="en-US" sz="1300" dirty="0"/>
          </a:p>
        </p:txBody>
      </p:sp>
      <p:sp>
        <p:nvSpPr>
          <p:cNvPr id="38" name="Shape 28"/>
          <p:cNvSpPr/>
          <p:nvPr/>
        </p:nvSpPr>
        <p:spPr>
          <a:xfrm>
            <a:off x="812800" y="4953000"/>
            <a:ext cx="10566400" cy="825500"/>
          </a:xfrm>
          <a:prstGeom prst="roundRect">
            <a:avLst>
              <a:gd name="adj" fmla="val 12308"/>
            </a:avLst>
          </a:prstGeom>
          <a:solidFill>
            <a:srgbClr val="F7E4E4"/>
          </a:solidFill>
        </p:spPr>
      </p:sp>
      <p:pic>
        <p:nvPicPr>
          <p:cNvPr id="39" name="Image 8" descr="Warning"/>
          <p:cNvPicPr>
            <a:picLocks noChangeAspect="1"/>
          </p:cNvPicPr>
          <p:nvPr/>
        </p:nvPicPr>
        <p:blipFill>
          <a:blip r:embed="rId4"/>
          <a:srcRect l="-403" r="-403"/>
          <a:stretch>
            <a:fillRect/>
          </a:stretch>
        </p:blipFill>
        <p:spPr>
          <a:xfrm>
            <a:off x="1016000" y="5213350"/>
            <a:ext cx="198438" cy="304800"/>
          </a:xfrm>
          <a:prstGeom prst="rect">
            <a:avLst/>
          </a:prstGeom>
        </p:spPr>
      </p:pic>
      <p:sp>
        <p:nvSpPr>
          <p:cNvPr id="40" name="Text 29"/>
          <p:cNvSpPr/>
          <p:nvPr/>
        </p:nvSpPr>
        <p:spPr>
          <a:xfrm>
            <a:off x="1366838" y="5134620"/>
            <a:ext cx="10103437" cy="48766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F2430"/>
                </a:solidFill>
                <a:latin typeface="Public Sans" pitchFamily="34" charset="0"/>
                <a:ea typeface="Public Sans" pitchFamily="34" charset="-122"/>
                <a:cs typeface="Public Sans" pitchFamily="34" charset="-120"/>
              </a:rPr>
              <a:t>Exception path.</a:t>
            </a:r>
            <a:r>
              <a:rPr lang="en-US" sz="1300" dirty="0">
                <a:solidFill>
                  <a:srgbClr val="1F2430"/>
                </a:solidFill>
                <a:latin typeface="Public Sans" pitchFamily="34" charset="0"/>
                <a:ea typeface="Public Sans" pitchFamily="34" charset="-122"/>
                <a:cs typeface="Public Sans" pitchFamily="34" charset="-120"/>
              </a:rPr>
              <a:t> A cancel or a reservation timeout releases held stock through an idempotent conditional update, so a double-cancel, or a cancel racing the expiry sweeper, never returns stock twice.</a:t>
            </a:r>
            <a:endParaRPr lang="en-US" sz="1300" dirty="0"/>
          </a:p>
        </p:txBody>
      </p:sp>
      <p:sp>
        <p:nvSpPr>
          <p:cNvPr id="41" name="Text 30"/>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42" name="Text 31"/>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1 · PROJECT DESIGN</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Data model</a:t>
            </a:r>
            <a:endParaRPr lang="en-US" sz="2800" dirty="0"/>
          </a:p>
        </p:txBody>
      </p:sp>
      <p:sp>
        <p:nvSpPr>
          <p:cNvPr id="5" name="Shape 2"/>
          <p:cNvSpPr/>
          <p:nvPr/>
        </p:nvSpPr>
        <p:spPr>
          <a:xfrm>
            <a:off x="815975" y="1844675"/>
            <a:ext cx="3041650" cy="1670050"/>
          </a:xfrm>
          <a:prstGeom prst="roundRect">
            <a:avLst>
              <a:gd name="adj" fmla="val 5894"/>
            </a:avLst>
          </a:prstGeom>
          <a:solidFill>
            <a:srgbClr val="FFFFFF"/>
          </a:solidFill>
          <a:ln w="6350">
            <a:solidFill>
              <a:srgbClr val="E6DFD8"/>
            </a:solidFill>
            <a:prstDash val="solid"/>
          </a:ln>
        </p:spPr>
      </p:sp>
      <p:sp>
        <p:nvSpPr>
          <p:cNvPr id="6" name="Text 3"/>
          <p:cNvSpPr/>
          <p:nvPr/>
        </p:nvSpPr>
        <p:spPr>
          <a:xfrm>
            <a:off x="946150" y="1974850"/>
            <a:ext cx="286473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B30D12"/>
                </a:solidFill>
                <a:latin typeface="Public Sans" pitchFamily="34" charset="0"/>
                <a:ea typeface="Public Sans" pitchFamily="34" charset="-122"/>
                <a:cs typeface="Public Sans" pitchFamily="34" charset="-120"/>
              </a:rPr>
              <a:t>User</a:t>
            </a:r>
            <a:endParaRPr lang="en-US" sz="1500" dirty="0"/>
          </a:p>
        </p:txBody>
      </p:sp>
      <p:sp>
        <p:nvSpPr>
          <p:cNvPr id="7" name="Text 4"/>
          <p:cNvSpPr/>
          <p:nvPr/>
        </p:nvSpPr>
        <p:spPr>
          <a:xfrm>
            <a:off x="946150" y="2279650"/>
            <a:ext cx="2864739" cy="105405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id (PK)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name · email</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role</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password hash</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created at</a:t>
            </a:r>
            <a:endParaRPr lang="en-US" sz="1200" dirty="0"/>
          </a:p>
        </p:txBody>
      </p:sp>
      <p:sp>
        <p:nvSpPr>
          <p:cNvPr id="8" name="Shape 5"/>
          <p:cNvSpPr/>
          <p:nvPr/>
        </p:nvSpPr>
        <p:spPr>
          <a:xfrm>
            <a:off x="4575175" y="1844675"/>
            <a:ext cx="3041650" cy="1670050"/>
          </a:xfrm>
          <a:prstGeom prst="roundRect">
            <a:avLst>
              <a:gd name="adj" fmla="val 5894"/>
            </a:avLst>
          </a:prstGeom>
          <a:solidFill>
            <a:srgbClr val="FFFFFF"/>
          </a:solidFill>
          <a:ln w="6350">
            <a:solidFill>
              <a:srgbClr val="E6DFD8"/>
            </a:solidFill>
            <a:prstDash val="solid"/>
          </a:ln>
        </p:spPr>
      </p:sp>
      <p:sp>
        <p:nvSpPr>
          <p:cNvPr id="9" name="Text 6"/>
          <p:cNvSpPr/>
          <p:nvPr/>
        </p:nvSpPr>
        <p:spPr>
          <a:xfrm>
            <a:off x="4705350" y="1974850"/>
            <a:ext cx="286473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F2430"/>
                </a:solidFill>
                <a:latin typeface="Public Sans" pitchFamily="34" charset="0"/>
                <a:ea typeface="Public Sans" pitchFamily="34" charset="-122"/>
                <a:cs typeface="Public Sans" pitchFamily="34" charset="-120"/>
              </a:rPr>
              <a:t>Order</a:t>
            </a:r>
            <a:endParaRPr lang="en-US" sz="1500" dirty="0"/>
          </a:p>
        </p:txBody>
      </p:sp>
      <p:sp>
        <p:nvSpPr>
          <p:cNvPr id="10" name="Text 7"/>
          <p:cNvSpPr/>
          <p:nvPr/>
        </p:nvSpPr>
        <p:spPr>
          <a:xfrm>
            <a:off x="4705350" y="2279650"/>
            <a:ext cx="2864739" cy="105405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id (PK)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user or guest session (FK)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kitchen (FK)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status · pickup token</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slot · created at</a:t>
            </a:r>
            <a:endParaRPr lang="en-US" sz="1200" dirty="0"/>
          </a:p>
        </p:txBody>
      </p:sp>
      <p:sp>
        <p:nvSpPr>
          <p:cNvPr id="11" name="Shape 8"/>
          <p:cNvSpPr/>
          <p:nvPr/>
        </p:nvSpPr>
        <p:spPr>
          <a:xfrm>
            <a:off x="8334375" y="1844675"/>
            <a:ext cx="3041650" cy="1670050"/>
          </a:xfrm>
          <a:prstGeom prst="roundRect">
            <a:avLst>
              <a:gd name="adj" fmla="val 5894"/>
            </a:avLst>
          </a:prstGeom>
          <a:solidFill>
            <a:srgbClr val="FFFFFF"/>
          </a:solidFill>
          <a:ln w="6350">
            <a:solidFill>
              <a:srgbClr val="E6DFD8"/>
            </a:solidFill>
            <a:prstDash val="solid"/>
          </a:ln>
        </p:spPr>
      </p:sp>
      <p:sp>
        <p:nvSpPr>
          <p:cNvPr id="12" name="Text 9"/>
          <p:cNvSpPr/>
          <p:nvPr/>
        </p:nvSpPr>
        <p:spPr>
          <a:xfrm>
            <a:off x="8464550" y="1974850"/>
            <a:ext cx="286473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E7C86"/>
                </a:solidFill>
                <a:latin typeface="Public Sans" pitchFamily="34" charset="0"/>
                <a:ea typeface="Public Sans" pitchFamily="34" charset="-122"/>
                <a:cs typeface="Public Sans" pitchFamily="34" charset="-120"/>
              </a:rPr>
              <a:t>Kitchen</a:t>
            </a:r>
            <a:endParaRPr lang="en-US" sz="1500" dirty="0"/>
          </a:p>
        </p:txBody>
      </p:sp>
      <p:sp>
        <p:nvSpPr>
          <p:cNvPr id="13" name="Text 10"/>
          <p:cNvSpPr/>
          <p:nvPr/>
        </p:nvSpPr>
        <p:spPr>
          <a:xfrm>
            <a:off x="8464550" y="2279650"/>
            <a:ext cx="2864739" cy="84832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id (PK)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name (Snacks / Meals)</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admin user (FK)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active flag</a:t>
            </a:r>
            <a:endParaRPr lang="en-US" sz="1200" dirty="0"/>
          </a:p>
        </p:txBody>
      </p:sp>
      <p:sp>
        <p:nvSpPr>
          <p:cNvPr id="14" name="Shape 11"/>
          <p:cNvSpPr/>
          <p:nvPr/>
        </p:nvSpPr>
        <p:spPr>
          <a:xfrm>
            <a:off x="815975" y="4029075"/>
            <a:ext cx="3041650" cy="1670050"/>
          </a:xfrm>
          <a:prstGeom prst="roundRect">
            <a:avLst>
              <a:gd name="adj" fmla="val 5894"/>
            </a:avLst>
          </a:prstGeom>
          <a:solidFill>
            <a:srgbClr val="FFFFFF"/>
          </a:solidFill>
          <a:ln w="6350">
            <a:solidFill>
              <a:srgbClr val="E6DFD8"/>
            </a:solidFill>
            <a:prstDash val="solid"/>
          </a:ln>
        </p:spPr>
      </p:sp>
      <p:sp>
        <p:nvSpPr>
          <p:cNvPr id="15" name="Text 12"/>
          <p:cNvSpPr/>
          <p:nvPr/>
        </p:nvSpPr>
        <p:spPr>
          <a:xfrm>
            <a:off x="946150" y="4159250"/>
            <a:ext cx="286473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B30D12"/>
                </a:solidFill>
                <a:latin typeface="Public Sans" pitchFamily="34" charset="0"/>
                <a:ea typeface="Public Sans" pitchFamily="34" charset="-122"/>
                <a:cs typeface="Public Sans" pitchFamily="34" charset="-120"/>
              </a:rPr>
              <a:t>AuditLog</a:t>
            </a:r>
            <a:endParaRPr lang="en-US" sz="1500" dirty="0"/>
          </a:p>
        </p:txBody>
      </p:sp>
      <p:sp>
        <p:nvSpPr>
          <p:cNvPr id="16" name="Text 13"/>
          <p:cNvSpPr/>
          <p:nvPr/>
        </p:nvSpPr>
        <p:spPr>
          <a:xfrm>
            <a:off x="946150" y="4464050"/>
            <a:ext cx="2864739" cy="105405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id (PK)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actor (FK to User)</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action</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entity · entity id</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timestamp</a:t>
            </a:r>
            <a:endParaRPr lang="en-US" sz="1200" dirty="0"/>
          </a:p>
        </p:txBody>
      </p:sp>
      <p:sp>
        <p:nvSpPr>
          <p:cNvPr id="17" name="Shape 14"/>
          <p:cNvSpPr/>
          <p:nvPr/>
        </p:nvSpPr>
        <p:spPr>
          <a:xfrm>
            <a:off x="4575175" y="4029075"/>
            <a:ext cx="3041650" cy="1670050"/>
          </a:xfrm>
          <a:prstGeom prst="roundRect">
            <a:avLst>
              <a:gd name="adj" fmla="val 5894"/>
            </a:avLst>
          </a:prstGeom>
          <a:solidFill>
            <a:srgbClr val="FFFFFF"/>
          </a:solidFill>
          <a:ln w="6350">
            <a:solidFill>
              <a:srgbClr val="E6DFD8"/>
            </a:solidFill>
            <a:prstDash val="solid"/>
          </a:ln>
        </p:spPr>
      </p:sp>
      <p:sp>
        <p:nvSpPr>
          <p:cNvPr id="18" name="Text 15"/>
          <p:cNvSpPr/>
          <p:nvPr/>
        </p:nvSpPr>
        <p:spPr>
          <a:xfrm>
            <a:off x="4705350" y="4159250"/>
            <a:ext cx="286473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F2430"/>
                </a:solidFill>
                <a:latin typeface="Public Sans" pitchFamily="34" charset="0"/>
                <a:ea typeface="Public Sans" pitchFamily="34" charset="-122"/>
                <a:cs typeface="Public Sans" pitchFamily="34" charset="-120"/>
              </a:rPr>
              <a:t>OrderItem</a:t>
            </a:r>
            <a:endParaRPr lang="en-US" sz="1500" dirty="0"/>
          </a:p>
        </p:txBody>
      </p:sp>
      <p:sp>
        <p:nvSpPr>
          <p:cNvPr id="19" name="Text 16"/>
          <p:cNvSpPr/>
          <p:nvPr/>
        </p:nvSpPr>
        <p:spPr>
          <a:xfrm>
            <a:off x="4705350" y="4464050"/>
            <a:ext cx="2864739" cy="105405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order (FK)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menu item (FK)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quantity</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unit price</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reservation state</a:t>
            </a:r>
            <a:endParaRPr lang="en-US" sz="1200" dirty="0"/>
          </a:p>
        </p:txBody>
      </p:sp>
      <p:sp>
        <p:nvSpPr>
          <p:cNvPr id="20" name="Shape 17"/>
          <p:cNvSpPr/>
          <p:nvPr/>
        </p:nvSpPr>
        <p:spPr>
          <a:xfrm>
            <a:off x="8334375" y="4029075"/>
            <a:ext cx="3041650" cy="1670050"/>
          </a:xfrm>
          <a:prstGeom prst="roundRect">
            <a:avLst>
              <a:gd name="adj" fmla="val 5894"/>
            </a:avLst>
          </a:prstGeom>
          <a:solidFill>
            <a:srgbClr val="FFFFFF"/>
          </a:solidFill>
          <a:ln w="6350">
            <a:solidFill>
              <a:srgbClr val="E6DFD8"/>
            </a:solidFill>
            <a:prstDash val="solid"/>
          </a:ln>
        </p:spPr>
      </p:sp>
      <p:sp>
        <p:nvSpPr>
          <p:cNvPr id="21" name="Text 18"/>
          <p:cNvSpPr/>
          <p:nvPr/>
        </p:nvSpPr>
        <p:spPr>
          <a:xfrm>
            <a:off x="8464550" y="4159250"/>
            <a:ext cx="286473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0E7C86"/>
                </a:solidFill>
                <a:latin typeface="Public Sans" pitchFamily="34" charset="0"/>
                <a:ea typeface="Public Sans" pitchFamily="34" charset="-122"/>
                <a:cs typeface="Public Sans" pitchFamily="34" charset="-120"/>
              </a:rPr>
              <a:t>MenuItem</a:t>
            </a:r>
            <a:endParaRPr lang="en-US" sz="1500" dirty="0"/>
          </a:p>
        </p:txBody>
      </p:sp>
      <p:sp>
        <p:nvSpPr>
          <p:cNvPr id="22" name="Text 19"/>
          <p:cNvSpPr/>
          <p:nvPr/>
        </p:nvSpPr>
        <p:spPr>
          <a:xfrm>
            <a:off x="8464550" y="4464050"/>
            <a:ext cx="2864739" cy="1054050"/>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id (PK)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kitchen (FK)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name · price</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stock</a:t>
            </a:r>
            <a:endParaRPr lang="en-US" sz="1200" dirty="0"/>
          </a:p>
          <a:p>
            <a:pPr marL="0" indent="0" algn="l">
              <a:lnSpc>
                <a:spcPts val="1620"/>
              </a:lnSpc>
              <a:buNone/>
            </a:pPr>
            <a:r>
              <a:rPr lang="en-US" sz="1200" dirty="0">
                <a:solidFill>
                  <a:srgbClr val="4A5160"/>
                </a:solidFill>
                <a:latin typeface="Public Sans" pitchFamily="34" charset="0"/>
                <a:ea typeface="Public Sans" pitchFamily="34" charset="-122"/>
                <a:cs typeface="Public Sans" pitchFamily="34" charset="-120"/>
              </a:rPr>
              <a:t>reserved quantity</a:t>
            </a:r>
            <a:endParaRPr lang="en-US" sz="1200" dirty="0"/>
          </a:p>
        </p:txBody>
      </p:sp>
      <p:pic>
        <p:nvPicPr>
          <p:cNvPr id="23" name="Image 1" descr="connector"/>
          <p:cNvPicPr>
            <a:picLocks noChangeAspect="1"/>
          </p:cNvPicPr>
          <p:nvPr/>
        </p:nvPicPr>
        <p:blipFill>
          <a:blip r:embed="rId2"/>
          <a:srcRect/>
          <a:stretch>
            <a:fillRect/>
          </a:stretch>
        </p:blipFill>
        <p:spPr>
          <a:xfrm>
            <a:off x="3835400" y="2628900"/>
            <a:ext cx="762000" cy="101600"/>
          </a:xfrm>
          <a:prstGeom prst="rect">
            <a:avLst/>
          </a:prstGeom>
        </p:spPr>
      </p:pic>
      <p:sp>
        <p:nvSpPr>
          <p:cNvPr id="24" name="Text 20"/>
          <p:cNvSpPr/>
          <p:nvPr/>
        </p:nvSpPr>
        <p:spPr>
          <a:xfrm>
            <a:off x="3835400" y="2438400"/>
            <a:ext cx="7620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places</a:t>
            </a:r>
            <a:endParaRPr lang="en-US" sz="1200" dirty="0"/>
          </a:p>
        </p:txBody>
      </p:sp>
      <p:pic>
        <p:nvPicPr>
          <p:cNvPr id="25" name="Image 2" descr="connector"/>
          <p:cNvPicPr>
            <a:picLocks noChangeAspect="1"/>
          </p:cNvPicPr>
          <p:nvPr/>
        </p:nvPicPr>
        <p:blipFill>
          <a:blip r:embed="rId2"/>
          <a:srcRect/>
          <a:stretch>
            <a:fillRect/>
          </a:stretch>
        </p:blipFill>
        <p:spPr>
          <a:xfrm>
            <a:off x="7594600" y="2628900"/>
            <a:ext cx="762000" cy="101600"/>
          </a:xfrm>
          <a:prstGeom prst="rect">
            <a:avLst/>
          </a:prstGeom>
        </p:spPr>
      </p:pic>
      <p:sp>
        <p:nvSpPr>
          <p:cNvPr id="26" name="Text 21"/>
          <p:cNvSpPr/>
          <p:nvPr/>
        </p:nvSpPr>
        <p:spPr>
          <a:xfrm>
            <a:off x="7594600" y="2438400"/>
            <a:ext cx="7620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at</a:t>
            </a:r>
            <a:endParaRPr lang="en-US" sz="1200" dirty="0"/>
          </a:p>
        </p:txBody>
      </p:sp>
      <p:pic>
        <p:nvPicPr>
          <p:cNvPr id="27" name="Image 3" descr="connector"/>
          <p:cNvPicPr>
            <a:picLocks noChangeAspect="1"/>
          </p:cNvPicPr>
          <p:nvPr/>
        </p:nvPicPr>
        <p:blipFill>
          <a:blip r:embed="rId2"/>
          <a:srcRect/>
          <a:stretch>
            <a:fillRect/>
          </a:stretch>
        </p:blipFill>
        <p:spPr>
          <a:xfrm>
            <a:off x="7594600" y="4813300"/>
            <a:ext cx="762000" cy="101600"/>
          </a:xfrm>
          <a:prstGeom prst="rect">
            <a:avLst/>
          </a:prstGeom>
        </p:spPr>
      </p:pic>
      <p:sp>
        <p:nvSpPr>
          <p:cNvPr id="28" name="Text 22"/>
          <p:cNvSpPr/>
          <p:nvPr/>
        </p:nvSpPr>
        <p:spPr>
          <a:xfrm>
            <a:off x="7594600" y="4622800"/>
            <a:ext cx="7620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of</a:t>
            </a:r>
            <a:endParaRPr lang="en-US" sz="1200" dirty="0"/>
          </a:p>
        </p:txBody>
      </p:sp>
      <p:pic>
        <p:nvPicPr>
          <p:cNvPr id="29" name="Image 4" descr="connector"/>
          <p:cNvPicPr>
            <a:picLocks noChangeAspect="1"/>
          </p:cNvPicPr>
          <p:nvPr/>
        </p:nvPicPr>
        <p:blipFill>
          <a:blip r:embed="rId3"/>
          <a:srcRect/>
          <a:stretch>
            <a:fillRect/>
          </a:stretch>
        </p:blipFill>
        <p:spPr>
          <a:xfrm>
            <a:off x="6045200" y="3492500"/>
            <a:ext cx="101600" cy="558800"/>
          </a:xfrm>
          <a:prstGeom prst="rect">
            <a:avLst/>
          </a:prstGeom>
        </p:spPr>
      </p:pic>
      <p:sp>
        <p:nvSpPr>
          <p:cNvPr id="30" name="Text 23"/>
          <p:cNvSpPr/>
          <p:nvPr/>
        </p:nvSpPr>
        <p:spPr>
          <a:xfrm>
            <a:off x="6197600" y="3676650"/>
            <a:ext cx="10033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1F2430"/>
                </a:solidFill>
                <a:latin typeface="Public Sans" pitchFamily="34" charset="0"/>
                <a:ea typeface="Public Sans" pitchFamily="34" charset="-122"/>
                <a:cs typeface="Public Sans" pitchFamily="34" charset="-120"/>
              </a:rPr>
              <a:t>has</a:t>
            </a:r>
            <a:endParaRPr lang="en-US" sz="1200" dirty="0"/>
          </a:p>
        </p:txBody>
      </p:sp>
      <p:pic>
        <p:nvPicPr>
          <p:cNvPr id="31" name="Image 5" descr="connector"/>
          <p:cNvPicPr>
            <a:picLocks noChangeAspect="1"/>
          </p:cNvPicPr>
          <p:nvPr/>
        </p:nvPicPr>
        <p:blipFill>
          <a:blip r:embed="rId3"/>
          <a:srcRect/>
          <a:stretch>
            <a:fillRect/>
          </a:stretch>
        </p:blipFill>
        <p:spPr>
          <a:xfrm>
            <a:off x="9804400" y="3492500"/>
            <a:ext cx="101600" cy="558800"/>
          </a:xfrm>
          <a:prstGeom prst="rect">
            <a:avLst/>
          </a:prstGeom>
        </p:spPr>
      </p:pic>
      <p:sp>
        <p:nvSpPr>
          <p:cNvPr id="32" name="Text 24"/>
          <p:cNvSpPr/>
          <p:nvPr/>
        </p:nvSpPr>
        <p:spPr>
          <a:xfrm>
            <a:off x="9956800" y="3676650"/>
            <a:ext cx="10033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1F2430"/>
                </a:solidFill>
                <a:latin typeface="Public Sans" pitchFamily="34" charset="0"/>
                <a:ea typeface="Public Sans" pitchFamily="34" charset="-122"/>
                <a:cs typeface="Public Sans" pitchFamily="34" charset="-120"/>
              </a:rPr>
              <a:t>sells</a:t>
            </a:r>
            <a:endParaRPr lang="en-US" sz="1200" dirty="0"/>
          </a:p>
        </p:txBody>
      </p:sp>
      <p:pic>
        <p:nvPicPr>
          <p:cNvPr id="33" name="Image 6" descr="connector"/>
          <p:cNvPicPr>
            <a:picLocks noChangeAspect="1"/>
          </p:cNvPicPr>
          <p:nvPr/>
        </p:nvPicPr>
        <p:blipFill>
          <a:blip r:embed="rId3"/>
          <a:srcRect/>
          <a:stretch>
            <a:fillRect/>
          </a:stretch>
        </p:blipFill>
        <p:spPr>
          <a:xfrm>
            <a:off x="2286000" y="3492500"/>
            <a:ext cx="101600" cy="558800"/>
          </a:xfrm>
          <a:prstGeom prst="rect">
            <a:avLst/>
          </a:prstGeom>
        </p:spPr>
      </p:pic>
      <p:sp>
        <p:nvSpPr>
          <p:cNvPr id="34" name="Text 25"/>
          <p:cNvSpPr/>
          <p:nvPr/>
        </p:nvSpPr>
        <p:spPr>
          <a:xfrm>
            <a:off x="2438400" y="3676650"/>
            <a:ext cx="100330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1F2430"/>
                </a:solidFill>
                <a:latin typeface="Public Sans" pitchFamily="34" charset="0"/>
                <a:ea typeface="Public Sans" pitchFamily="34" charset="-122"/>
                <a:cs typeface="Public Sans" pitchFamily="34" charset="-120"/>
              </a:rPr>
              <a:t>logs</a:t>
            </a:r>
            <a:endParaRPr lang="en-US" sz="1200" dirty="0"/>
          </a:p>
        </p:txBody>
      </p:sp>
      <p:sp>
        <p:nvSpPr>
          <p:cNvPr id="35" name="Text 26"/>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36" name="Text 27"/>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2 · METHODOLOGY ADOPTED</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Iterative, phased development plan</a:t>
            </a:r>
            <a:endParaRPr lang="en-US" sz="2800" dirty="0"/>
          </a:p>
        </p:txBody>
      </p:sp>
      <p:sp>
        <p:nvSpPr>
          <p:cNvPr id="5" name="Text 2"/>
          <p:cNvSpPr/>
          <p:nvPr/>
        </p:nvSpPr>
        <p:spPr>
          <a:xfrm>
            <a:off x="4597400" y="1645890"/>
            <a:ext cx="80148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W1</a:t>
            </a:r>
            <a:endParaRPr lang="en-US" sz="1200" dirty="0"/>
          </a:p>
        </p:txBody>
      </p:sp>
      <p:sp>
        <p:nvSpPr>
          <p:cNvPr id="6" name="Text 3"/>
          <p:cNvSpPr/>
          <p:nvPr/>
        </p:nvSpPr>
        <p:spPr>
          <a:xfrm>
            <a:off x="5348089" y="1645890"/>
            <a:ext cx="80153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W2</a:t>
            </a:r>
            <a:endParaRPr lang="en-US" sz="1200" dirty="0"/>
          </a:p>
        </p:txBody>
      </p:sp>
      <p:sp>
        <p:nvSpPr>
          <p:cNvPr id="7" name="Text 4"/>
          <p:cNvSpPr/>
          <p:nvPr/>
        </p:nvSpPr>
        <p:spPr>
          <a:xfrm>
            <a:off x="6098828" y="1645890"/>
            <a:ext cx="80148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W3</a:t>
            </a:r>
            <a:endParaRPr lang="en-US" sz="1200" dirty="0"/>
          </a:p>
        </p:txBody>
      </p:sp>
      <p:sp>
        <p:nvSpPr>
          <p:cNvPr id="8" name="Text 5"/>
          <p:cNvSpPr/>
          <p:nvPr/>
        </p:nvSpPr>
        <p:spPr>
          <a:xfrm>
            <a:off x="6849517" y="1645890"/>
            <a:ext cx="80153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W4</a:t>
            </a:r>
            <a:endParaRPr lang="en-US" sz="1200" dirty="0"/>
          </a:p>
        </p:txBody>
      </p:sp>
      <p:sp>
        <p:nvSpPr>
          <p:cNvPr id="9" name="Text 6"/>
          <p:cNvSpPr/>
          <p:nvPr/>
        </p:nvSpPr>
        <p:spPr>
          <a:xfrm>
            <a:off x="7600255" y="1645890"/>
            <a:ext cx="80148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W5</a:t>
            </a:r>
            <a:endParaRPr lang="en-US" sz="1200" dirty="0"/>
          </a:p>
        </p:txBody>
      </p:sp>
      <p:sp>
        <p:nvSpPr>
          <p:cNvPr id="10" name="Text 7"/>
          <p:cNvSpPr/>
          <p:nvPr/>
        </p:nvSpPr>
        <p:spPr>
          <a:xfrm>
            <a:off x="8350945" y="1645890"/>
            <a:ext cx="80153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W6</a:t>
            </a:r>
            <a:endParaRPr lang="en-US" sz="1200" dirty="0"/>
          </a:p>
        </p:txBody>
      </p:sp>
      <p:sp>
        <p:nvSpPr>
          <p:cNvPr id="11" name="Text 8"/>
          <p:cNvSpPr/>
          <p:nvPr/>
        </p:nvSpPr>
        <p:spPr>
          <a:xfrm>
            <a:off x="9101683" y="1645890"/>
            <a:ext cx="80148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W7</a:t>
            </a:r>
            <a:endParaRPr lang="en-US" sz="1200" dirty="0"/>
          </a:p>
        </p:txBody>
      </p:sp>
      <p:sp>
        <p:nvSpPr>
          <p:cNvPr id="12" name="Text 9"/>
          <p:cNvSpPr/>
          <p:nvPr/>
        </p:nvSpPr>
        <p:spPr>
          <a:xfrm>
            <a:off x="9852372" y="1645890"/>
            <a:ext cx="80153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W8</a:t>
            </a:r>
            <a:endParaRPr lang="en-US" sz="1200" dirty="0"/>
          </a:p>
        </p:txBody>
      </p:sp>
      <p:sp>
        <p:nvSpPr>
          <p:cNvPr id="13" name="Text 10"/>
          <p:cNvSpPr/>
          <p:nvPr/>
        </p:nvSpPr>
        <p:spPr>
          <a:xfrm>
            <a:off x="10603111" y="1645890"/>
            <a:ext cx="801489"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666C78"/>
                </a:solidFill>
                <a:latin typeface="Public Sans" pitchFamily="34" charset="0"/>
                <a:ea typeface="Public Sans" pitchFamily="34" charset="-122"/>
                <a:cs typeface="Public Sans" pitchFamily="34" charset="-120"/>
              </a:rPr>
              <a:t>W9</a:t>
            </a:r>
            <a:endParaRPr lang="en-US" sz="1200" dirty="0"/>
          </a:p>
        </p:txBody>
      </p:sp>
      <p:sp>
        <p:nvSpPr>
          <p:cNvPr id="14" name="Shape 11"/>
          <p:cNvSpPr/>
          <p:nvPr/>
        </p:nvSpPr>
        <p:spPr>
          <a:xfrm>
            <a:off x="815975" y="2022425"/>
            <a:ext cx="10560050" cy="2393950"/>
          </a:xfrm>
          <a:prstGeom prst="roundRect">
            <a:avLst>
              <a:gd name="adj" fmla="val 4111"/>
            </a:avLst>
          </a:prstGeom>
          <a:solidFill>
            <a:srgbClr val="FFFFFF"/>
          </a:solidFill>
          <a:ln w="6350">
            <a:solidFill>
              <a:srgbClr val="E6DFD8"/>
            </a:solidFill>
            <a:prstDash val="solid"/>
          </a:ln>
        </p:spPr>
      </p:sp>
      <p:sp>
        <p:nvSpPr>
          <p:cNvPr id="15" name="Text 12"/>
          <p:cNvSpPr/>
          <p:nvPr/>
        </p:nvSpPr>
        <p:spPr>
          <a:xfrm>
            <a:off x="971550" y="2142430"/>
            <a:ext cx="3767328"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Requirement analysis and design</a:t>
            </a:r>
            <a:endParaRPr lang="en-US" sz="1400" dirty="0"/>
          </a:p>
        </p:txBody>
      </p:sp>
      <p:sp>
        <p:nvSpPr>
          <p:cNvPr id="16" name="Text 13"/>
          <p:cNvSpPr/>
          <p:nvPr/>
        </p:nvSpPr>
        <p:spPr>
          <a:xfrm>
            <a:off x="4629150" y="2139900"/>
            <a:ext cx="1464717" cy="254000"/>
          </a:xfrm>
          <a:custGeom>
            <a:avLst/>
            <a:gdLst/>
            <a:ahLst/>
            <a:cxnLst/>
            <a:rect l="l" t="t" r="r" b="b"/>
            <a:pathLst>
              <a:path w="1464717" h="254000">
                <a:moveTo>
                  <a:pt x="63500" y="0"/>
                </a:moveTo>
                <a:lnTo>
                  <a:pt x="1401217" y="0"/>
                </a:lnTo>
                <a:arcTo wR="63500" hR="63500" stAng="16200000" swAng="5400000"/>
                <a:lnTo>
                  <a:pt x="1464717" y="190500"/>
                </a:lnTo>
                <a:arcTo wR="63500" hR="63500" stAng="0" swAng="5400000"/>
                <a:lnTo>
                  <a:pt x="63500" y="254000"/>
                </a:lnTo>
                <a:arcTo wR="63500" hR="63500" stAng="5400000" swAng="5400000"/>
                <a:lnTo>
                  <a:pt x="0" y="63500"/>
                </a:lnTo>
                <a:arcTo wR="63500" hR="63500" stAng="10800000" swAng="5400000"/>
                <a:close/>
              </a:path>
            </a:pathLst>
          </a:custGeom>
          <a:solidFill>
            <a:srgbClr val="0E7C86"/>
          </a:solidFill>
        </p:spPr>
        <p:txBody>
          <a:bodyPr wrap="square" lIns="0" tIns="0" rIns="0" bIns="0" rtlCol="0" anchor="t">
            <a:normAutofit/>
          </a:bodyPr>
          <a:lstStyle/>
          <a:p>
            <a:pPr marL="0" indent="0" algn="ctr">
              <a:lnSpc>
                <a:spcPts val="2005"/>
              </a:lnSpc>
              <a:buNone/>
            </a:pPr>
            <a:r>
              <a:rPr lang="en-US" sz="1200" b="1" dirty="0">
                <a:solidFill>
                  <a:srgbClr val="FFFFFF"/>
                </a:solidFill>
                <a:latin typeface="Public Sans" pitchFamily="34" charset="0"/>
                <a:ea typeface="Public Sans" pitchFamily="34" charset="-122"/>
                <a:cs typeface="Public Sans" pitchFamily="34" charset="-120"/>
              </a:rPr>
              <a:t>W1–W2</a:t>
            </a:r>
            <a:endParaRPr lang="en-US" sz="1200" dirty="0"/>
          </a:p>
        </p:txBody>
      </p:sp>
      <p:sp>
        <p:nvSpPr>
          <p:cNvPr id="17" name="Text 14"/>
          <p:cNvSpPr/>
          <p:nvPr/>
        </p:nvSpPr>
        <p:spPr>
          <a:xfrm>
            <a:off x="971550" y="2523430"/>
            <a:ext cx="3767328"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Backend: Hono API, Prisma</a:t>
            </a:r>
            <a:endParaRPr lang="en-US" sz="1400" dirty="0"/>
          </a:p>
        </p:txBody>
      </p:sp>
      <p:sp>
        <p:nvSpPr>
          <p:cNvPr id="18" name="Text 15"/>
          <p:cNvSpPr/>
          <p:nvPr/>
        </p:nvSpPr>
        <p:spPr>
          <a:xfrm>
            <a:off x="6093867" y="2520900"/>
            <a:ext cx="2197100" cy="254000"/>
          </a:xfrm>
          <a:custGeom>
            <a:avLst/>
            <a:gdLst/>
            <a:ahLst/>
            <a:cxnLst/>
            <a:rect l="l" t="t" r="r" b="b"/>
            <a:pathLst>
              <a:path w="2197100" h="254000">
                <a:moveTo>
                  <a:pt x="63500" y="0"/>
                </a:moveTo>
                <a:lnTo>
                  <a:pt x="2133600" y="0"/>
                </a:lnTo>
                <a:arcTo wR="63500" hR="63500" stAng="16200000" swAng="5400000"/>
                <a:lnTo>
                  <a:pt x="2197100" y="190500"/>
                </a:lnTo>
                <a:arcTo wR="63500" hR="63500" stAng="0" swAng="5400000"/>
                <a:lnTo>
                  <a:pt x="63500" y="254000"/>
                </a:lnTo>
                <a:arcTo wR="63500" hR="63500" stAng="5400000" swAng="5400000"/>
                <a:lnTo>
                  <a:pt x="0" y="63500"/>
                </a:lnTo>
                <a:arcTo wR="63500" hR="63500" stAng="10800000" swAng="5400000"/>
                <a:close/>
              </a:path>
            </a:pathLst>
          </a:custGeom>
          <a:solidFill>
            <a:srgbClr val="B30D12"/>
          </a:solidFill>
        </p:spPr>
        <p:txBody>
          <a:bodyPr wrap="square" lIns="0" tIns="0" rIns="0" bIns="0" rtlCol="0" anchor="t">
            <a:normAutofit/>
          </a:bodyPr>
          <a:lstStyle/>
          <a:p>
            <a:pPr marL="0" indent="0" algn="ctr">
              <a:lnSpc>
                <a:spcPts val="2005"/>
              </a:lnSpc>
              <a:buNone/>
            </a:pPr>
            <a:r>
              <a:rPr lang="en-US" sz="1200" b="1" dirty="0">
                <a:solidFill>
                  <a:srgbClr val="FFFFFF"/>
                </a:solidFill>
                <a:latin typeface="Public Sans" pitchFamily="34" charset="0"/>
                <a:ea typeface="Public Sans" pitchFamily="34" charset="-122"/>
                <a:cs typeface="Public Sans" pitchFamily="34" charset="-120"/>
              </a:rPr>
              <a:t>W3–W5</a:t>
            </a:r>
            <a:endParaRPr lang="en-US" sz="1200" dirty="0"/>
          </a:p>
        </p:txBody>
      </p:sp>
      <p:sp>
        <p:nvSpPr>
          <p:cNvPr id="19" name="Text 16"/>
          <p:cNvSpPr/>
          <p:nvPr/>
        </p:nvSpPr>
        <p:spPr>
          <a:xfrm>
            <a:off x="971550" y="2904430"/>
            <a:ext cx="3767328"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Frontend: React role flows</a:t>
            </a:r>
            <a:endParaRPr lang="en-US" sz="1400" dirty="0"/>
          </a:p>
        </p:txBody>
      </p:sp>
      <p:sp>
        <p:nvSpPr>
          <p:cNvPr id="20" name="Text 17"/>
          <p:cNvSpPr/>
          <p:nvPr/>
        </p:nvSpPr>
        <p:spPr>
          <a:xfrm>
            <a:off x="6826250" y="2901900"/>
            <a:ext cx="2197100" cy="254000"/>
          </a:xfrm>
          <a:custGeom>
            <a:avLst/>
            <a:gdLst/>
            <a:ahLst/>
            <a:cxnLst/>
            <a:rect l="l" t="t" r="r" b="b"/>
            <a:pathLst>
              <a:path w="2197100" h="254000">
                <a:moveTo>
                  <a:pt x="63500" y="0"/>
                </a:moveTo>
                <a:lnTo>
                  <a:pt x="2133600" y="0"/>
                </a:lnTo>
                <a:arcTo wR="63500" hR="63500" stAng="16200000" swAng="5400000"/>
                <a:lnTo>
                  <a:pt x="2197100" y="190500"/>
                </a:lnTo>
                <a:arcTo wR="63500" hR="63500" stAng="0" swAng="5400000"/>
                <a:lnTo>
                  <a:pt x="63500" y="254000"/>
                </a:lnTo>
                <a:arcTo wR="63500" hR="63500" stAng="5400000" swAng="5400000"/>
                <a:lnTo>
                  <a:pt x="0" y="63500"/>
                </a:lnTo>
                <a:arcTo wR="63500" hR="63500" stAng="10800000" swAng="5400000"/>
                <a:close/>
              </a:path>
            </a:pathLst>
          </a:custGeom>
          <a:solidFill>
            <a:srgbClr val="B30D12"/>
          </a:solidFill>
        </p:spPr>
        <p:txBody>
          <a:bodyPr wrap="square" lIns="0" tIns="0" rIns="0" bIns="0" rtlCol="0" anchor="t">
            <a:normAutofit/>
          </a:bodyPr>
          <a:lstStyle/>
          <a:p>
            <a:pPr marL="0" indent="0" algn="ctr">
              <a:lnSpc>
                <a:spcPts val="2005"/>
              </a:lnSpc>
              <a:buNone/>
            </a:pPr>
            <a:r>
              <a:rPr lang="en-US" sz="1200" b="1" dirty="0">
                <a:solidFill>
                  <a:srgbClr val="FFFFFF"/>
                </a:solidFill>
                <a:latin typeface="Public Sans" pitchFamily="34" charset="0"/>
                <a:ea typeface="Public Sans" pitchFamily="34" charset="-122"/>
                <a:cs typeface="Public Sans" pitchFamily="34" charset="-120"/>
              </a:rPr>
              <a:t>W4–W6</a:t>
            </a:r>
            <a:endParaRPr lang="en-US" sz="1200" dirty="0"/>
          </a:p>
        </p:txBody>
      </p:sp>
      <p:sp>
        <p:nvSpPr>
          <p:cNvPr id="21" name="Text 18"/>
          <p:cNvSpPr/>
          <p:nvPr/>
        </p:nvSpPr>
        <p:spPr>
          <a:xfrm>
            <a:off x="971550" y="3285430"/>
            <a:ext cx="3767328"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Realtime: SSE and stock</a:t>
            </a:r>
            <a:endParaRPr lang="en-US" sz="1400" dirty="0"/>
          </a:p>
        </p:txBody>
      </p:sp>
      <p:sp>
        <p:nvSpPr>
          <p:cNvPr id="22" name="Text 19"/>
          <p:cNvSpPr/>
          <p:nvPr/>
        </p:nvSpPr>
        <p:spPr>
          <a:xfrm>
            <a:off x="8291016" y="3282900"/>
            <a:ext cx="1464717" cy="254000"/>
          </a:xfrm>
          <a:custGeom>
            <a:avLst/>
            <a:gdLst/>
            <a:ahLst/>
            <a:cxnLst/>
            <a:rect l="l" t="t" r="r" b="b"/>
            <a:pathLst>
              <a:path w="1464717" h="254000">
                <a:moveTo>
                  <a:pt x="63500" y="0"/>
                </a:moveTo>
                <a:lnTo>
                  <a:pt x="1401217" y="0"/>
                </a:lnTo>
                <a:arcTo wR="63500" hR="63500" stAng="16200000" swAng="5400000"/>
                <a:lnTo>
                  <a:pt x="1464717" y="190500"/>
                </a:lnTo>
                <a:arcTo wR="63500" hR="63500" stAng="0" swAng="5400000"/>
                <a:lnTo>
                  <a:pt x="63500" y="254000"/>
                </a:lnTo>
                <a:arcTo wR="63500" hR="63500" stAng="5400000" swAng="5400000"/>
                <a:lnTo>
                  <a:pt x="0" y="63500"/>
                </a:lnTo>
                <a:arcTo wR="63500" hR="63500" stAng="10800000" swAng="5400000"/>
                <a:close/>
              </a:path>
            </a:pathLst>
          </a:custGeom>
          <a:solidFill>
            <a:srgbClr val="B30D12"/>
          </a:solidFill>
        </p:spPr>
        <p:txBody>
          <a:bodyPr wrap="square" lIns="0" tIns="0" rIns="0" bIns="0" rtlCol="0" anchor="t">
            <a:normAutofit/>
          </a:bodyPr>
          <a:lstStyle/>
          <a:p>
            <a:pPr marL="0" indent="0" algn="ctr">
              <a:lnSpc>
                <a:spcPts val="2005"/>
              </a:lnSpc>
              <a:buNone/>
            </a:pPr>
            <a:r>
              <a:rPr lang="en-US" sz="1200" b="1" dirty="0">
                <a:solidFill>
                  <a:srgbClr val="FFFFFF"/>
                </a:solidFill>
                <a:latin typeface="Public Sans" pitchFamily="34" charset="0"/>
                <a:ea typeface="Public Sans" pitchFamily="34" charset="-122"/>
                <a:cs typeface="Public Sans" pitchFamily="34" charset="-120"/>
              </a:rPr>
              <a:t>W6–W7</a:t>
            </a:r>
            <a:endParaRPr lang="en-US" sz="1200" dirty="0"/>
          </a:p>
        </p:txBody>
      </p:sp>
      <p:sp>
        <p:nvSpPr>
          <p:cNvPr id="23" name="Text 20"/>
          <p:cNvSpPr/>
          <p:nvPr/>
        </p:nvSpPr>
        <p:spPr>
          <a:xfrm>
            <a:off x="971550" y="3666430"/>
            <a:ext cx="3767328"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Integration and testing</a:t>
            </a:r>
            <a:endParaRPr lang="en-US" sz="1400" dirty="0"/>
          </a:p>
        </p:txBody>
      </p:sp>
      <p:sp>
        <p:nvSpPr>
          <p:cNvPr id="24" name="Text 21"/>
          <p:cNvSpPr/>
          <p:nvPr/>
        </p:nvSpPr>
        <p:spPr>
          <a:xfrm>
            <a:off x="9023350" y="3663900"/>
            <a:ext cx="1464717" cy="254000"/>
          </a:xfrm>
          <a:custGeom>
            <a:avLst/>
            <a:gdLst/>
            <a:ahLst/>
            <a:cxnLst/>
            <a:rect l="l" t="t" r="r" b="b"/>
            <a:pathLst>
              <a:path w="1464717" h="254000">
                <a:moveTo>
                  <a:pt x="63500" y="0"/>
                </a:moveTo>
                <a:lnTo>
                  <a:pt x="1401217" y="0"/>
                </a:lnTo>
                <a:arcTo wR="63500" hR="63500" stAng="16200000" swAng="5400000"/>
                <a:lnTo>
                  <a:pt x="1464717" y="190500"/>
                </a:lnTo>
                <a:arcTo wR="63500" hR="63500" stAng="0" swAng="5400000"/>
                <a:lnTo>
                  <a:pt x="63500" y="254000"/>
                </a:lnTo>
                <a:arcTo wR="63500" hR="63500" stAng="5400000" swAng="5400000"/>
                <a:lnTo>
                  <a:pt x="0" y="63500"/>
                </a:lnTo>
                <a:arcTo wR="63500" hR="63500" stAng="10800000" swAng="5400000"/>
                <a:close/>
              </a:path>
            </a:pathLst>
          </a:custGeom>
          <a:solidFill>
            <a:srgbClr val="1F2430"/>
          </a:solidFill>
        </p:spPr>
        <p:txBody>
          <a:bodyPr wrap="square" lIns="0" tIns="0" rIns="0" bIns="0" rtlCol="0" anchor="t">
            <a:normAutofit/>
          </a:bodyPr>
          <a:lstStyle/>
          <a:p>
            <a:pPr marL="0" indent="0" algn="ctr">
              <a:lnSpc>
                <a:spcPts val="2005"/>
              </a:lnSpc>
              <a:buNone/>
            </a:pPr>
            <a:r>
              <a:rPr lang="en-US" sz="1200" b="1" dirty="0">
                <a:solidFill>
                  <a:srgbClr val="FFFFFF"/>
                </a:solidFill>
                <a:latin typeface="Public Sans" pitchFamily="34" charset="0"/>
                <a:ea typeface="Public Sans" pitchFamily="34" charset="-122"/>
                <a:cs typeface="Public Sans" pitchFamily="34" charset="-120"/>
              </a:rPr>
              <a:t>W7–W8</a:t>
            </a:r>
            <a:endParaRPr lang="en-US" sz="1200" dirty="0"/>
          </a:p>
        </p:txBody>
      </p:sp>
      <p:sp>
        <p:nvSpPr>
          <p:cNvPr id="25" name="Text 22"/>
          <p:cNvSpPr/>
          <p:nvPr/>
        </p:nvSpPr>
        <p:spPr>
          <a:xfrm>
            <a:off x="971550" y="4047430"/>
            <a:ext cx="3767328" cy="27429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F2430"/>
                </a:solidFill>
                <a:latin typeface="Public Sans" pitchFamily="34" charset="0"/>
                <a:ea typeface="Public Sans" pitchFamily="34" charset="-122"/>
                <a:cs typeface="Public Sans" pitchFamily="34" charset="-120"/>
              </a:rPr>
              <a:t>Deployment and review</a:t>
            </a:r>
            <a:endParaRPr lang="en-US" sz="1400" dirty="0"/>
          </a:p>
        </p:txBody>
      </p:sp>
      <p:sp>
        <p:nvSpPr>
          <p:cNvPr id="26" name="Text 23"/>
          <p:cNvSpPr/>
          <p:nvPr/>
        </p:nvSpPr>
        <p:spPr>
          <a:xfrm>
            <a:off x="10488067" y="4044900"/>
            <a:ext cx="732383" cy="254000"/>
          </a:xfrm>
          <a:custGeom>
            <a:avLst/>
            <a:gdLst/>
            <a:ahLst/>
            <a:cxnLst/>
            <a:rect l="l" t="t" r="r" b="b"/>
            <a:pathLst>
              <a:path w="732383" h="254000">
                <a:moveTo>
                  <a:pt x="63500" y="0"/>
                </a:moveTo>
                <a:lnTo>
                  <a:pt x="668883" y="0"/>
                </a:lnTo>
                <a:arcTo wR="63500" hR="63500" stAng="16200000" swAng="5400000"/>
                <a:lnTo>
                  <a:pt x="732383" y="190500"/>
                </a:lnTo>
                <a:arcTo wR="63500" hR="63500" stAng="0" swAng="5400000"/>
                <a:lnTo>
                  <a:pt x="63500" y="254000"/>
                </a:lnTo>
                <a:arcTo wR="63500" hR="63500" stAng="5400000" swAng="5400000"/>
                <a:lnTo>
                  <a:pt x="0" y="63500"/>
                </a:lnTo>
                <a:arcTo wR="63500" hR="63500" stAng="10800000" swAng="5400000"/>
                <a:close/>
              </a:path>
            </a:pathLst>
          </a:custGeom>
          <a:solidFill>
            <a:srgbClr val="1F2430"/>
          </a:solidFill>
        </p:spPr>
        <p:txBody>
          <a:bodyPr wrap="square" lIns="0" tIns="0" rIns="0" bIns="0" rtlCol="0" anchor="t">
            <a:normAutofit/>
          </a:bodyPr>
          <a:lstStyle/>
          <a:p>
            <a:pPr marL="0" indent="0" algn="ctr">
              <a:lnSpc>
                <a:spcPts val="2005"/>
              </a:lnSpc>
              <a:buNone/>
            </a:pPr>
            <a:r>
              <a:rPr lang="en-US" sz="1200" b="1" dirty="0">
                <a:solidFill>
                  <a:srgbClr val="FFFFFF"/>
                </a:solidFill>
                <a:latin typeface="Public Sans" pitchFamily="34" charset="0"/>
                <a:ea typeface="Public Sans" pitchFamily="34" charset="-122"/>
                <a:cs typeface="Public Sans" pitchFamily="34" charset="-120"/>
              </a:rPr>
              <a:t>W9</a:t>
            </a:r>
            <a:endParaRPr lang="en-US" sz="1200" dirty="0"/>
          </a:p>
        </p:txBody>
      </p:sp>
      <p:sp>
        <p:nvSpPr>
          <p:cNvPr id="27" name="Shape 24"/>
          <p:cNvSpPr/>
          <p:nvPr/>
        </p:nvSpPr>
        <p:spPr>
          <a:xfrm>
            <a:off x="812800" y="4602411"/>
            <a:ext cx="152400" cy="152400"/>
          </a:xfrm>
          <a:prstGeom prst="roundRect">
            <a:avLst>
              <a:gd name="adj" fmla="val 25000"/>
            </a:avLst>
          </a:prstGeom>
          <a:solidFill>
            <a:srgbClr val="0E7C86"/>
          </a:solidFill>
        </p:spPr>
      </p:sp>
      <p:sp>
        <p:nvSpPr>
          <p:cNvPr id="28" name="Text 25"/>
          <p:cNvSpPr/>
          <p:nvPr/>
        </p:nvSpPr>
        <p:spPr>
          <a:xfrm>
            <a:off x="1041400" y="4571950"/>
            <a:ext cx="1629023"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Analyse and design</a:t>
            </a:r>
            <a:endParaRPr lang="en-US" sz="1200" dirty="0"/>
          </a:p>
        </p:txBody>
      </p:sp>
      <p:sp>
        <p:nvSpPr>
          <p:cNvPr id="29" name="Shape 26"/>
          <p:cNvSpPr/>
          <p:nvPr/>
        </p:nvSpPr>
        <p:spPr>
          <a:xfrm>
            <a:off x="2670423" y="4602411"/>
            <a:ext cx="152400" cy="152400"/>
          </a:xfrm>
          <a:prstGeom prst="roundRect">
            <a:avLst>
              <a:gd name="adj" fmla="val 25000"/>
            </a:avLst>
          </a:prstGeom>
          <a:solidFill>
            <a:srgbClr val="B30D12"/>
          </a:solidFill>
        </p:spPr>
      </p:sp>
      <p:sp>
        <p:nvSpPr>
          <p:cNvPr id="30" name="Text 27"/>
          <p:cNvSpPr/>
          <p:nvPr/>
        </p:nvSpPr>
        <p:spPr>
          <a:xfrm>
            <a:off x="2899023" y="4571950"/>
            <a:ext cx="436364"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Build</a:t>
            </a:r>
            <a:endParaRPr lang="en-US" sz="1200" dirty="0"/>
          </a:p>
        </p:txBody>
      </p:sp>
      <p:sp>
        <p:nvSpPr>
          <p:cNvPr id="31" name="Shape 28"/>
          <p:cNvSpPr/>
          <p:nvPr/>
        </p:nvSpPr>
        <p:spPr>
          <a:xfrm>
            <a:off x="3516660" y="4602411"/>
            <a:ext cx="152400" cy="152400"/>
          </a:xfrm>
          <a:prstGeom prst="roundRect">
            <a:avLst>
              <a:gd name="adj" fmla="val 25000"/>
            </a:avLst>
          </a:prstGeom>
          <a:solidFill>
            <a:srgbClr val="1F2430"/>
          </a:solidFill>
        </p:spPr>
      </p:sp>
      <p:sp>
        <p:nvSpPr>
          <p:cNvPr id="32" name="Text 29"/>
          <p:cNvSpPr/>
          <p:nvPr/>
        </p:nvSpPr>
        <p:spPr>
          <a:xfrm>
            <a:off x="3745260" y="4571950"/>
            <a:ext cx="1263789"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Verify and ship</a:t>
            </a:r>
            <a:endParaRPr lang="en-US" sz="1200" dirty="0"/>
          </a:p>
        </p:txBody>
      </p:sp>
      <p:sp>
        <p:nvSpPr>
          <p:cNvPr id="33" name="Text 30"/>
          <p:cNvSpPr/>
          <p:nvPr/>
        </p:nvSpPr>
        <p:spPr>
          <a:xfrm>
            <a:off x="7030938" y="4571950"/>
            <a:ext cx="5161062"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160"/>
                </a:solidFill>
                <a:latin typeface="Public Sans" pitchFamily="34" charset="0"/>
                <a:ea typeface="Public Sans" pitchFamily="34" charset="-122"/>
                <a:cs typeface="Public Sans" pitchFamily="34" charset="-120"/>
              </a:rPr>
              <a:t>Phases overlap: backend and frontend run in parallel from W4</a:t>
            </a:r>
            <a:endParaRPr lang="en-US" sz="1200" dirty="0"/>
          </a:p>
        </p:txBody>
      </p:sp>
      <p:sp>
        <p:nvSpPr>
          <p:cNvPr id="34" name="Text 31"/>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35" name="Text 32"/>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2 · METHODOLOGY ADOPTED</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Engineering practices by phase</a:t>
            </a:r>
            <a:endParaRPr lang="en-US" sz="2800" dirty="0"/>
          </a:p>
        </p:txBody>
      </p:sp>
      <p:sp>
        <p:nvSpPr>
          <p:cNvPr id="5" name="Shape 2"/>
          <p:cNvSpPr/>
          <p:nvPr/>
        </p:nvSpPr>
        <p:spPr>
          <a:xfrm>
            <a:off x="815975" y="1692225"/>
            <a:ext cx="2178050" cy="4146600"/>
          </a:xfrm>
          <a:prstGeom prst="roundRect">
            <a:avLst>
              <a:gd name="adj" fmla="val 5685"/>
            </a:avLst>
          </a:prstGeom>
          <a:solidFill>
            <a:srgbClr val="FFFFFF"/>
          </a:solidFill>
          <a:ln w="6350">
            <a:solidFill>
              <a:srgbClr val="E6DFD8"/>
            </a:solidFill>
            <a:prstDash val="solid"/>
          </a:ln>
        </p:spPr>
      </p:sp>
      <p:sp>
        <p:nvSpPr>
          <p:cNvPr id="6" name="Text 3"/>
          <p:cNvSpPr/>
          <p:nvPr/>
        </p:nvSpPr>
        <p:spPr>
          <a:xfrm>
            <a:off x="1022350" y="1898600"/>
            <a:ext cx="406400" cy="406400"/>
          </a:xfrm>
          <a:prstGeom prst="roundRect">
            <a:avLst>
              <a:gd name="adj" fmla="val 50000"/>
            </a:avLst>
          </a:prstGeom>
          <a:solidFill>
            <a:srgbClr val="0E7C86"/>
          </a:solidFill>
        </p:spPr>
        <p:txBody>
          <a:bodyPr wrap="square" lIns="0" tIns="0" rIns="0" bIns="0" rtlCol="0" anchor="ctr">
            <a:normAutofit/>
          </a:bodyPr>
          <a:lstStyle/>
          <a:p>
            <a:pPr marL="0" indent="0" algn="ctr">
              <a:lnSpc>
                <a:spcPts val="2100"/>
              </a:lnSpc>
              <a:buNone/>
            </a:pPr>
            <a:r>
              <a:rPr lang="en-US" sz="1500" b="1" dirty="0">
                <a:solidFill>
                  <a:srgbClr val="FFFFFF"/>
                </a:solidFill>
                <a:latin typeface="Public Sans" pitchFamily="34" charset="0"/>
                <a:ea typeface="Public Sans" pitchFamily="34" charset="-122"/>
                <a:cs typeface="Public Sans" pitchFamily="34" charset="-120"/>
              </a:rPr>
              <a:t>1</a:t>
            </a:r>
            <a:endParaRPr lang="en-US" sz="1500" dirty="0"/>
          </a:p>
        </p:txBody>
      </p:sp>
      <p:sp>
        <p:nvSpPr>
          <p:cNvPr id="7" name="Text 4"/>
          <p:cNvSpPr/>
          <p:nvPr/>
        </p:nvSpPr>
        <p:spPr>
          <a:xfrm>
            <a:off x="1022350" y="2406600"/>
            <a:ext cx="1818259"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Analyse</a:t>
            </a:r>
            <a:endParaRPr lang="en-US" sz="1800" dirty="0"/>
          </a:p>
        </p:txBody>
      </p:sp>
      <p:sp>
        <p:nvSpPr>
          <p:cNvPr id="8" name="Text 5"/>
          <p:cNvSpPr/>
          <p:nvPr/>
        </p:nvSpPr>
        <p:spPr>
          <a:xfrm>
            <a:off x="1022350" y="2782491"/>
            <a:ext cx="1818259" cy="1643311"/>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Survey of three published systems</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Gap analysis against campus needs</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Roles and kitchens defined</a:t>
            </a:r>
            <a:endParaRPr lang="en-US" sz="1300" dirty="0"/>
          </a:p>
        </p:txBody>
      </p:sp>
      <p:pic>
        <p:nvPicPr>
          <p:cNvPr id="9" name="Image 1" descr="arrow-right"/>
          <p:cNvPicPr>
            <a:picLocks noChangeAspect="1"/>
          </p:cNvPicPr>
          <p:nvPr/>
        </p:nvPicPr>
        <p:blipFill>
          <a:blip r:embed="rId2"/>
          <a:srcRect/>
          <a:stretch>
            <a:fillRect/>
          </a:stretch>
        </p:blipFill>
        <p:spPr>
          <a:xfrm>
            <a:off x="3149600" y="3663900"/>
            <a:ext cx="304800" cy="203200"/>
          </a:xfrm>
          <a:prstGeom prst="rect">
            <a:avLst/>
          </a:prstGeom>
        </p:spPr>
      </p:pic>
      <p:sp>
        <p:nvSpPr>
          <p:cNvPr id="10" name="Shape 6"/>
          <p:cNvSpPr/>
          <p:nvPr/>
        </p:nvSpPr>
        <p:spPr>
          <a:xfrm>
            <a:off x="3609975" y="1692225"/>
            <a:ext cx="2178050" cy="4146600"/>
          </a:xfrm>
          <a:prstGeom prst="roundRect">
            <a:avLst>
              <a:gd name="adj" fmla="val 5685"/>
            </a:avLst>
          </a:prstGeom>
          <a:solidFill>
            <a:srgbClr val="FFFFFF"/>
          </a:solidFill>
          <a:ln w="6350">
            <a:solidFill>
              <a:srgbClr val="E6DFD8"/>
            </a:solidFill>
            <a:prstDash val="solid"/>
          </a:ln>
        </p:spPr>
      </p:sp>
      <p:sp>
        <p:nvSpPr>
          <p:cNvPr id="11" name="Text 7"/>
          <p:cNvSpPr/>
          <p:nvPr/>
        </p:nvSpPr>
        <p:spPr>
          <a:xfrm>
            <a:off x="3816350" y="1898600"/>
            <a:ext cx="406400" cy="406400"/>
          </a:xfrm>
          <a:prstGeom prst="roundRect">
            <a:avLst>
              <a:gd name="adj" fmla="val 50000"/>
            </a:avLst>
          </a:prstGeom>
          <a:solidFill>
            <a:srgbClr val="0E7C86"/>
          </a:solidFill>
        </p:spPr>
        <p:txBody>
          <a:bodyPr wrap="square" lIns="0" tIns="0" rIns="0" bIns="0" rtlCol="0" anchor="ctr">
            <a:normAutofit/>
          </a:bodyPr>
          <a:lstStyle/>
          <a:p>
            <a:pPr marL="0" indent="0" algn="ctr">
              <a:lnSpc>
                <a:spcPts val="2100"/>
              </a:lnSpc>
              <a:buNone/>
            </a:pPr>
            <a:r>
              <a:rPr lang="en-US" sz="1500" b="1" dirty="0">
                <a:solidFill>
                  <a:srgbClr val="FFFFFF"/>
                </a:solidFill>
                <a:latin typeface="Public Sans" pitchFamily="34" charset="0"/>
                <a:ea typeface="Public Sans" pitchFamily="34" charset="-122"/>
                <a:cs typeface="Public Sans" pitchFamily="34" charset="-120"/>
              </a:rPr>
              <a:t>2</a:t>
            </a:r>
            <a:endParaRPr lang="en-US" sz="1500" dirty="0"/>
          </a:p>
        </p:txBody>
      </p:sp>
      <p:sp>
        <p:nvSpPr>
          <p:cNvPr id="12" name="Text 8"/>
          <p:cNvSpPr/>
          <p:nvPr/>
        </p:nvSpPr>
        <p:spPr>
          <a:xfrm>
            <a:off x="3816350" y="2406600"/>
            <a:ext cx="1818259"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Design</a:t>
            </a:r>
            <a:endParaRPr lang="en-US" sz="1800" dirty="0"/>
          </a:p>
        </p:txBody>
      </p:sp>
      <p:sp>
        <p:nvSpPr>
          <p:cNvPr id="13" name="Text 9"/>
          <p:cNvSpPr/>
          <p:nvPr/>
        </p:nvSpPr>
        <p:spPr>
          <a:xfrm>
            <a:off x="3816350" y="2782491"/>
            <a:ext cx="1818259" cy="1412180"/>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Service-oriented API modules</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Data model and stock rules</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SSE hub as a separate boundary</a:t>
            </a:r>
            <a:endParaRPr lang="en-US" sz="1300" dirty="0"/>
          </a:p>
        </p:txBody>
      </p:sp>
      <p:pic>
        <p:nvPicPr>
          <p:cNvPr id="14" name="Image 2" descr="arrow-right"/>
          <p:cNvPicPr>
            <a:picLocks noChangeAspect="1"/>
          </p:cNvPicPr>
          <p:nvPr/>
        </p:nvPicPr>
        <p:blipFill>
          <a:blip r:embed="rId2"/>
          <a:srcRect/>
          <a:stretch>
            <a:fillRect/>
          </a:stretch>
        </p:blipFill>
        <p:spPr>
          <a:xfrm>
            <a:off x="5943600" y="3663900"/>
            <a:ext cx="304800" cy="203200"/>
          </a:xfrm>
          <a:prstGeom prst="rect">
            <a:avLst/>
          </a:prstGeom>
        </p:spPr>
      </p:pic>
      <p:sp>
        <p:nvSpPr>
          <p:cNvPr id="15" name="Shape 10"/>
          <p:cNvSpPr/>
          <p:nvPr/>
        </p:nvSpPr>
        <p:spPr>
          <a:xfrm>
            <a:off x="6403975" y="1692225"/>
            <a:ext cx="2178050" cy="4146600"/>
          </a:xfrm>
          <a:prstGeom prst="roundRect">
            <a:avLst>
              <a:gd name="adj" fmla="val 5685"/>
            </a:avLst>
          </a:prstGeom>
          <a:solidFill>
            <a:srgbClr val="FFFFFF"/>
          </a:solidFill>
          <a:ln w="6350">
            <a:solidFill>
              <a:srgbClr val="E6DFD8"/>
            </a:solidFill>
            <a:prstDash val="solid"/>
          </a:ln>
        </p:spPr>
      </p:sp>
      <p:sp>
        <p:nvSpPr>
          <p:cNvPr id="16" name="Text 11"/>
          <p:cNvSpPr/>
          <p:nvPr/>
        </p:nvSpPr>
        <p:spPr>
          <a:xfrm>
            <a:off x="6610350" y="1898600"/>
            <a:ext cx="406400" cy="406400"/>
          </a:xfrm>
          <a:prstGeom prst="roundRect">
            <a:avLst>
              <a:gd name="adj" fmla="val 50000"/>
            </a:avLst>
          </a:prstGeom>
          <a:solidFill>
            <a:srgbClr val="B30D12"/>
          </a:solidFill>
        </p:spPr>
        <p:txBody>
          <a:bodyPr wrap="square" lIns="0" tIns="0" rIns="0" bIns="0" rtlCol="0" anchor="ctr">
            <a:normAutofit/>
          </a:bodyPr>
          <a:lstStyle/>
          <a:p>
            <a:pPr marL="0" indent="0" algn="ctr">
              <a:lnSpc>
                <a:spcPts val="2100"/>
              </a:lnSpc>
              <a:buNone/>
            </a:pPr>
            <a:r>
              <a:rPr lang="en-US" sz="1500" b="1" dirty="0">
                <a:solidFill>
                  <a:srgbClr val="FFFFFF"/>
                </a:solidFill>
                <a:latin typeface="Public Sans" pitchFamily="34" charset="0"/>
                <a:ea typeface="Public Sans" pitchFamily="34" charset="-122"/>
                <a:cs typeface="Public Sans" pitchFamily="34" charset="-120"/>
              </a:rPr>
              <a:t>3</a:t>
            </a:r>
            <a:endParaRPr lang="en-US" sz="1500" dirty="0"/>
          </a:p>
        </p:txBody>
      </p:sp>
      <p:sp>
        <p:nvSpPr>
          <p:cNvPr id="17" name="Text 12"/>
          <p:cNvSpPr/>
          <p:nvPr/>
        </p:nvSpPr>
        <p:spPr>
          <a:xfrm>
            <a:off x="6610350" y="2406600"/>
            <a:ext cx="1818259"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Build and test</a:t>
            </a:r>
            <a:endParaRPr lang="en-US" sz="1800" dirty="0"/>
          </a:p>
        </p:txBody>
      </p:sp>
      <p:sp>
        <p:nvSpPr>
          <p:cNvPr id="18" name="Text 13"/>
          <p:cNvSpPr/>
          <p:nvPr/>
        </p:nvSpPr>
        <p:spPr>
          <a:xfrm>
            <a:off x="6610350" y="2782491"/>
            <a:ext cx="1818259" cy="1412180"/>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Backend and frontend in parallel</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115+ backend tests</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Concurrency test: 20 simultaneous deliveries</a:t>
            </a:r>
            <a:endParaRPr lang="en-US" sz="1300" dirty="0"/>
          </a:p>
        </p:txBody>
      </p:sp>
      <p:pic>
        <p:nvPicPr>
          <p:cNvPr id="19" name="Image 3" descr="arrow-right"/>
          <p:cNvPicPr>
            <a:picLocks noChangeAspect="1"/>
          </p:cNvPicPr>
          <p:nvPr/>
        </p:nvPicPr>
        <p:blipFill>
          <a:blip r:embed="rId2"/>
          <a:srcRect/>
          <a:stretch>
            <a:fillRect/>
          </a:stretch>
        </p:blipFill>
        <p:spPr>
          <a:xfrm>
            <a:off x="8737600" y="3663900"/>
            <a:ext cx="304800" cy="203200"/>
          </a:xfrm>
          <a:prstGeom prst="rect">
            <a:avLst/>
          </a:prstGeom>
        </p:spPr>
      </p:pic>
      <p:sp>
        <p:nvSpPr>
          <p:cNvPr id="20" name="Shape 14"/>
          <p:cNvSpPr/>
          <p:nvPr/>
        </p:nvSpPr>
        <p:spPr>
          <a:xfrm>
            <a:off x="9197975" y="1692225"/>
            <a:ext cx="2178050" cy="4146600"/>
          </a:xfrm>
          <a:prstGeom prst="roundRect">
            <a:avLst>
              <a:gd name="adj" fmla="val 5685"/>
            </a:avLst>
          </a:prstGeom>
          <a:solidFill>
            <a:srgbClr val="FFFFFF"/>
          </a:solidFill>
          <a:ln w="6350">
            <a:solidFill>
              <a:srgbClr val="E6DFD8"/>
            </a:solidFill>
            <a:prstDash val="solid"/>
          </a:ln>
        </p:spPr>
      </p:sp>
      <p:sp>
        <p:nvSpPr>
          <p:cNvPr id="21" name="Text 15"/>
          <p:cNvSpPr/>
          <p:nvPr/>
        </p:nvSpPr>
        <p:spPr>
          <a:xfrm>
            <a:off x="9404350" y="1898600"/>
            <a:ext cx="406400" cy="406400"/>
          </a:xfrm>
          <a:prstGeom prst="roundRect">
            <a:avLst>
              <a:gd name="adj" fmla="val 50000"/>
            </a:avLst>
          </a:prstGeom>
          <a:solidFill>
            <a:srgbClr val="1F2430"/>
          </a:solidFill>
        </p:spPr>
        <p:txBody>
          <a:bodyPr wrap="square" lIns="0" tIns="0" rIns="0" bIns="0" rtlCol="0" anchor="ctr">
            <a:normAutofit/>
          </a:bodyPr>
          <a:lstStyle/>
          <a:p>
            <a:pPr marL="0" indent="0" algn="ctr">
              <a:lnSpc>
                <a:spcPts val="2100"/>
              </a:lnSpc>
              <a:buNone/>
            </a:pPr>
            <a:r>
              <a:rPr lang="en-US" sz="1500" b="1" dirty="0">
                <a:solidFill>
                  <a:srgbClr val="FFFFFF"/>
                </a:solidFill>
                <a:latin typeface="Public Sans" pitchFamily="34" charset="0"/>
                <a:ea typeface="Public Sans" pitchFamily="34" charset="-122"/>
                <a:cs typeface="Public Sans" pitchFamily="34" charset="-120"/>
              </a:rPr>
              <a:t>4</a:t>
            </a:r>
            <a:endParaRPr lang="en-US" sz="1500" dirty="0"/>
          </a:p>
        </p:txBody>
      </p:sp>
      <p:sp>
        <p:nvSpPr>
          <p:cNvPr id="22" name="Text 16"/>
          <p:cNvSpPr/>
          <p:nvPr/>
        </p:nvSpPr>
        <p:spPr>
          <a:xfrm>
            <a:off x="9404350" y="2406600"/>
            <a:ext cx="1818259" cy="57398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F2430"/>
                </a:solidFill>
                <a:latin typeface="Public Sans" pitchFamily="34" charset="0"/>
                <a:ea typeface="Public Sans" pitchFamily="34" charset="-122"/>
                <a:cs typeface="Public Sans" pitchFamily="34" charset="-120"/>
              </a:rPr>
              <a:t>Deploy and review</a:t>
            </a:r>
            <a:endParaRPr lang="en-US" sz="1800" dirty="0"/>
          </a:p>
        </p:txBody>
      </p:sp>
      <p:sp>
        <p:nvSpPr>
          <p:cNvPr id="23" name="Text 17"/>
          <p:cNvSpPr/>
          <p:nvPr/>
        </p:nvSpPr>
        <p:spPr>
          <a:xfrm>
            <a:off x="9404350" y="3056781"/>
            <a:ext cx="1818259" cy="1643311"/>
          </a:xfrm>
          <a:prstGeom prst="rect">
            <a:avLst/>
          </a:prstGeom>
          <a:noFill/>
        </p:spPr>
        <p:txBody>
          <a:bodyPr wrap="square" lIns="0" tIns="0" rIns="0" bIns="0" rtlCol="0" anchor="t">
            <a:normAutofit/>
          </a:bodyPr>
          <a:lstStyle/>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Frontend and backend shipped separately</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Cloudflare Workers and Render</a:t>
            </a:r>
            <a:endParaRPr lang="en-US" sz="1300" dirty="0"/>
          </a:p>
          <a:p>
            <a:pPr marL="198120" indent="-156210" algn="l">
              <a:lnSpc>
                <a:spcPts val="1820"/>
              </a:lnSpc>
              <a:buSzPct val="100000"/>
              <a:buChar char="•"/>
            </a:pPr>
            <a:r>
              <a:rPr lang="en-US" sz="1300" dirty="0">
                <a:solidFill>
                  <a:srgbClr val="4A5160"/>
                </a:solidFill>
                <a:latin typeface="Public Sans" pitchFamily="34" charset="0"/>
                <a:ea typeface="Public Sans" pitchFamily="34" charset="-122"/>
                <a:cs typeface="Public Sans" pitchFamily="34" charset="-120"/>
              </a:rPr>
              <a:t>Checked at 200+ concurrent requests</a:t>
            </a:r>
            <a:endParaRPr lang="en-US" sz="1300" dirty="0"/>
          </a:p>
        </p:txBody>
      </p:sp>
      <p:sp>
        <p:nvSpPr>
          <p:cNvPr id="24" name="Text 18"/>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25" name="Text 19"/>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2 · METHODOLOGY ADOPTED</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Realtime order flow and stock safety</a:t>
            </a:r>
            <a:endParaRPr lang="en-US" sz="2800" dirty="0"/>
          </a:p>
        </p:txBody>
      </p:sp>
      <p:pic>
        <p:nvPicPr>
          <p:cNvPr id="5" name="Image 1" descr="connector"/>
          <p:cNvPicPr>
            <a:picLocks noChangeAspect="1"/>
          </p:cNvPicPr>
          <p:nvPr/>
        </p:nvPicPr>
        <p:blipFill>
          <a:blip r:embed="rId2"/>
          <a:srcRect/>
          <a:stretch>
            <a:fillRect/>
          </a:stretch>
        </p:blipFill>
        <p:spPr>
          <a:xfrm>
            <a:off x="1828800" y="2247900"/>
            <a:ext cx="76200" cy="3441700"/>
          </a:xfrm>
          <a:prstGeom prst="rect">
            <a:avLst/>
          </a:prstGeom>
        </p:spPr>
      </p:pic>
      <p:pic>
        <p:nvPicPr>
          <p:cNvPr id="6" name="Image 2" descr="connector"/>
          <p:cNvPicPr>
            <a:picLocks noChangeAspect="1"/>
          </p:cNvPicPr>
          <p:nvPr/>
        </p:nvPicPr>
        <p:blipFill>
          <a:blip r:embed="rId2"/>
          <a:srcRect/>
          <a:stretch>
            <a:fillRect/>
          </a:stretch>
        </p:blipFill>
        <p:spPr>
          <a:xfrm>
            <a:off x="3943350" y="2247900"/>
            <a:ext cx="76200" cy="3441700"/>
          </a:xfrm>
          <a:prstGeom prst="rect">
            <a:avLst/>
          </a:prstGeom>
        </p:spPr>
      </p:pic>
      <p:pic>
        <p:nvPicPr>
          <p:cNvPr id="7" name="Image 3" descr="connector"/>
          <p:cNvPicPr>
            <a:picLocks noChangeAspect="1"/>
          </p:cNvPicPr>
          <p:nvPr/>
        </p:nvPicPr>
        <p:blipFill>
          <a:blip r:embed="rId2"/>
          <a:srcRect/>
          <a:stretch>
            <a:fillRect/>
          </a:stretch>
        </p:blipFill>
        <p:spPr>
          <a:xfrm>
            <a:off x="6057900" y="2247900"/>
            <a:ext cx="76200" cy="3441700"/>
          </a:xfrm>
          <a:prstGeom prst="rect">
            <a:avLst/>
          </a:prstGeom>
        </p:spPr>
      </p:pic>
      <p:pic>
        <p:nvPicPr>
          <p:cNvPr id="8" name="Image 4" descr="connector"/>
          <p:cNvPicPr>
            <a:picLocks noChangeAspect="1"/>
          </p:cNvPicPr>
          <p:nvPr/>
        </p:nvPicPr>
        <p:blipFill>
          <a:blip r:embed="rId2"/>
          <a:srcRect/>
          <a:stretch>
            <a:fillRect/>
          </a:stretch>
        </p:blipFill>
        <p:spPr>
          <a:xfrm>
            <a:off x="8172450" y="2247900"/>
            <a:ext cx="76200" cy="3441700"/>
          </a:xfrm>
          <a:prstGeom prst="rect">
            <a:avLst/>
          </a:prstGeom>
        </p:spPr>
      </p:pic>
      <p:pic>
        <p:nvPicPr>
          <p:cNvPr id="9" name="Image 5" descr="connector"/>
          <p:cNvPicPr>
            <a:picLocks noChangeAspect="1"/>
          </p:cNvPicPr>
          <p:nvPr/>
        </p:nvPicPr>
        <p:blipFill>
          <a:blip r:embed="rId2"/>
          <a:srcRect/>
          <a:stretch>
            <a:fillRect/>
          </a:stretch>
        </p:blipFill>
        <p:spPr>
          <a:xfrm>
            <a:off x="10287000" y="2247900"/>
            <a:ext cx="76200" cy="3441700"/>
          </a:xfrm>
          <a:prstGeom prst="rect">
            <a:avLst/>
          </a:prstGeom>
        </p:spPr>
      </p:pic>
      <p:sp>
        <p:nvSpPr>
          <p:cNvPr id="10" name="Text 2"/>
          <p:cNvSpPr/>
          <p:nvPr/>
        </p:nvSpPr>
        <p:spPr>
          <a:xfrm>
            <a:off x="977900" y="1841500"/>
            <a:ext cx="1778000" cy="444500"/>
          </a:xfrm>
          <a:prstGeom prst="roundRect">
            <a:avLst>
              <a:gd name="adj" fmla="val 2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Customer app</a:t>
            </a:r>
            <a:endParaRPr lang="en-US" sz="1400" dirty="0"/>
          </a:p>
        </p:txBody>
      </p:sp>
      <p:sp>
        <p:nvSpPr>
          <p:cNvPr id="11" name="Text 3"/>
          <p:cNvSpPr/>
          <p:nvPr/>
        </p:nvSpPr>
        <p:spPr>
          <a:xfrm>
            <a:off x="3092450" y="1841500"/>
            <a:ext cx="1778000" cy="444500"/>
          </a:xfrm>
          <a:prstGeom prst="roundRect">
            <a:avLst>
              <a:gd name="adj" fmla="val 20000"/>
            </a:avLst>
          </a:prstGeom>
          <a:solidFill>
            <a:srgbClr val="1F2430"/>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Hono API</a:t>
            </a:r>
            <a:endParaRPr lang="en-US" sz="1400" dirty="0"/>
          </a:p>
        </p:txBody>
      </p:sp>
      <p:sp>
        <p:nvSpPr>
          <p:cNvPr id="12" name="Text 4"/>
          <p:cNvSpPr/>
          <p:nvPr/>
        </p:nvSpPr>
        <p:spPr>
          <a:xfrm>
            <a:off x="5207000" y="1841500"/>
            <a:ext cx="1778000" cy="444500"/>
          </a:xfrm>
          <a:prstGeom prst="roundRect">
            <a:avLst>
              <a:gd name="adj" fmla="val 20000"/>
            </a:avLst>
          </a:prstGeom>
          <a:solidFill>
            <a:srgbClr val="0E7C86"/>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PostgreSQL</a:t>
            </a:r>
            <a:endParaRPr lang="en-US" sz="1400" dirty="0"/>
          </a:p>
        </p:txBody>
      </p:sp>
      <p:sp>
        <p:nvSpPr>
          <p:cNvPr id="13" name="Text 5"/>
          <p:cNvSpPr/>
          <p:nvPr/>
        </p:nvSpPr>
        <p:spPr>
          <a:xfrm>
            <a:off x="7321550" y="1841500"/>
            <a:ext cx="1778000" cy="444500"/>
          </a:xfrm>
          <a:prstGeom prst="roundRect">
            <a:avLst>
              <a:gd name="adj" fmla="val 20000"/>
            </a:avLst>
          </a:prstGeom>
          <a:solidFill>
            <a:srgbClr val="0E7C86"/>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SSE hub</a:t>
            </a:r>
            <a:endParaRPr lang="en-US" sz="1400" dirty="0"/>
          </a:p>
        </p:txBody>
      </p:sp>
      <p:sp>
        <p:nvSpPr>
          <p:cNvPr id="14" name="Text 6"/>
          <p:cNvSpPr/>
          <p:nvPr/>
        </p:nvSpPr>
        <p:spPr>
          <a:xfrm>
            <a:off x="9436100" y="1841500"/>
            <a:ext cx="1778000" cy="444500"/>
          </a:xfrm>
          <a:prstGeom prst="roundRect">
            <a:avLst>
              <a:gd name="adj" fmla="val 2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Kitchen board</a:t>
            </a:r>
            <a:endParaRPr lang="en-US" sz="1400" dirty="0"/>
          </a:p>
        </p:txBody>
      </p:sp>
      <p:sp>
        <p:nvSpPr>
          <p:cNvPr id="15" name="Text 7"/>
          <p:cNvSpPr/>
          <p:nvPr/>
        </p:nvSpPr>
        <p:spPr>
          <a:xfrm>
            <a:off x="1835182" y="2501900"/>
            <a:ext cx="2177987"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POST /orders</a:t>
            </a:r>
            <a:endParaRPr lang="en-US" sz="1200" dirty="0"/>
          </a:p>
        </p:txBody>
      </p:sp>
      <p:pic>
        <p:nvPicPr>
          <p:cNvPr id="16" name="Image 6" descr="connector"/>
          <p:cNvPicPr>
            <a:picLocks noChangeAspect="1"/>
          </p:cNvPicPr>
          <p:nvPr/>
        </p:nvPicPr>
        <p:blipFill>
          <a:blip r:embed="rId3"/>
          <a:srcRect/>
          <a:stretch>
            <a:fillRect/>
          </a:stretch>
        </p:blipFill>
        <p:spPr>
          <a:xfrm>
            <a:off x="1828800" y="2679700"/>
            <a:ext cx="2190750" cy="101600"/>
          </a:xfrm>
          <a:prstGeom prst="rect">
            <a:avLst/>
          </a:prstGeom>
        </p:spPr>
      </p:pic>
      <p:sp>
        <p:nvSpPr>
          <p:cNvPr id="17" name="Text 8"/>
          <p:cNvSpPr/>
          <p:nvPr/>
        </p:nvSpPr>
        <p:spPr>
          <a:xfrm>
            <a:off x="3949732" y="2946400"/>
            <a:ext cx="2177987"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Reserve stock (atomic)</a:t>
            </a:r>
            <a:endParaRPr lang="en-US" sz="1200" dirty="0"/>
          </a:p>
        </p:txBody>
      </p:sp>
      <p:pic>
        <p:nvPicPr>
          <p:cNvPr id="18" name="Image 7" descr="connector"/>
          <p:cNvPicPr>
            <a:picLocks noChangeAspect="1"/>
          </p:cNvPicPr>
          <p:nvPr/>
        </p:nvPicPr>
        <p:blipFill>
          <a:blip r:embed="rId3"/>
          <a:srcRect/>
          <a:stretch>
            <a:fillRect/>
          </a:stretch>
        </p:blipFill>
        <p:spPr>
          <a:xfrm>
            <a:off x="3943350" y="3124200"/>
            <a:ext cx="2190750" cy="101600"/>
          </a:xfrm>
          <a:prstGeom prst="rect">
            <a:avLst/>
          </a:prstGeom>
        </p:spPr>
      </p:pic>
      <p:sp>
        <p:nvSpPr>
          <p:cNvPr id="19" name="Text 9"/>
          <p:cNvSpPr/>
          <p:nvPr/>
        </p:nvSpPr>
        <p:spPr>
          <a:xfrm>
            <a:off x="3949732" y="3390900"/>
            <a:ext cx="2177987"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0E7C86"/>
                </a:solidFill>
                <a:latin typeface="Public Sans" pitchFamily="34" charset="0"/>
                <a:ea typeface="Public Sans" pitchFamily="34" charset="-122"/>
                <a:cs typeface="Public Sans" pitchFamily="34" charset="-120"/>
              </a:rPr>
              <a:t>OK, or 0 rows = reject</a:t>
            </a:r>
            <a:endParaRPr lang="en-US" sz="1200" dirty="0"/>
          </a:p>
        </p:txBody>
      </p:sp>
      <p:pic>
        <p:nvPicPr>
          <p:cNvPr id="20" name="Image 8" descr="connector"/>
          <p:cNvPicPr>
            <a:picLocks noChangeAspect="1"/>
          </p:cNvPicPr>
          <p:nvPr/>
        </p:nvPicPr>
        <p:blipFill>
          <a:blip r:embed="rId4"/>
          <a:srcRect/>
          <a:stretch>
            <a:fillRect/>
          </a:stretch>
        </p:blipFill>
        <p:spPr>
          <a:xfrm>
            <a:off x="3943350" y="3568700"/>
            <a:ext cx="2190750" cy="101600"/>
          </a:xfrm>
          <a:prstGeom prst="rect">
            <a:avLst/>
          </a:prstGeom>
        </p:spPr>
      </p:pic>
      <p:sp>
        <p:nvSpPr>
          <p:cNvPr id="21" name="Text 10"/>
          <p:cNvSpPr/>
          <p:nvPr/>
        </p:nvSpPr>
        <p:spPr>
          <a:xfrm>
            <a:off x="3949732" y="3835400"/>
            <a:ext cx="2177987"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Save order per kitchen</a:t>
            </a:r>
            <a:endParaRPr lang="en-US" sz="1200" dirty="0"/>
          </a:p>
        </p:txBody>
      </p:sp>
      <p:pic>
        <p:nvPicPr>
          <p:cNvPr id="22" name="Image 9" descr="connector"/>
          <p:cNvPicPr>
            <a:picLocks noChangeAspect="1"/>
          </p:cNvPicPr>
          <p:nvPr/>
        </p:nvPicPr>
        <p:blipFill>
          <a:blip r:embed="rId3"/>
          <a:srcRect/>
          <a:stretch>
            <a:fillRect/>
          </a:stretch>
        </p:blipFill>
        <p:spPr>
          <a:xfrm>
            <a:off x="3943350" y="4013200"/>
            <a:ext cx="2190750" cy="101600"/>
          </a:xfrm>
          <a:prstGeom prst="rect">
            <a:avLst/>
          </a:prstGeom>
        </p:spPr>
      </p:pic>
      <p:sp>
        <p:nvSpPr>
          <p:cNvPr id="23" name="Text 11"/>
          <p:cNvSpPr/>
          <p:nvPr/>
        </p:nvSpPr>
        <p:spPr>
          <a:xfrm>
            <a:off x="4787900" y="4279900"/>
            <a:ext cx="261620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1F2430"/>
                </a:solidFill>
                <a:latin typeface="Public Sans" pitchFamily="34" charset="0"/>
                <a:ea typeface="Public Sans" pitchFamily="34" charset="-122"/>
                <a:cs typeface="Public Sans" pitchFamily="34" charset="-120"/>
              </a:rPr>
              <a:t>Publish order event</a:t>
            </a:r>
            <a:endParaRPr lang="en-US" sz="1200" dirty="0"/>
          </a:p>
        </p:txBody>
      </p:sp>
      <p:pic>
        <p:nvPicPr>
          <p:cNvPr id="24" name="Image 10" descr="connector"/>
          <p:cNvPicPr>
            <a:picLocks noChangeAspect="1"/>
          </p:cNvPicPr>
          <p:nvPr/>
        </p:nvPicPr>
        <p:blipFill>
          <a:blip r:embed="rId5"/>
          <a:srcRect/>
          <a:stretch>
            <a:fillRect/>
          </a:stretch>
        </p:blipFill>
        <p:spPr>
          <a:xfrm>
            <a:off x="3943350" y="4457700"/>
            <a:ext cx="4305300" cy="101600"/>
          </a:xfrm>
          <a:prstGeom prst="rect">
            <a:avLst/>
          </a:prstGeom>
        </p:spPr>
      </p:pic>
      <p:sp>
        <p:nvSpPr>
          <p:cNvPr id="25" name="Text 12"/>
          <p:cNvSpPr/>
          <p:nvPr/>
        </p:nvSpPr>
        <p:spPr>
          <a:xfrm>
            <a:off x="8178832" y="4724400"/>
            <a:ext cx="2177987"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B30D12"/>
                </a:solidFill>
                <a:latin typeface="Public Sans" pitchFamily="34" charset="0"/>
                <a:ea typeface="Public Sans" pitchFamily="34" charset="-122"/>
                <a:cs typeface="Public Sans" pitchFamily="34" charset="-120"/>
              </a:rPr>
              <a:t>Push to kitchen board</a:t>
            </a:r>
            <a:endParaRPr lang="en-US" sz="1200" dirty="0"/>
          </a:p>
        </p:txBody>
      </p:sp>
      <p:pic>
        <p:nvPicPr>
          <p:cNvPr id="26" name="Image 11" descr="connector"/>
          <p:cNvPicPr>
            <a:picLocks noChangeAspect="1"/>
          </p:cNvPicPr>
          <p:nvPr/>
        </p:nvPicPr>
        <p:blipFill>
          <a:blip r:embed="rId6"/>
          <a:srcRect/>
          <a:stretch>
            <a:fillRect/>
          </a:stretch>
        </p:blipFill>
        <p:spPr>
          <a:xfrm>
            <a:off x="8172450" y="4902200"/>
            <a:ext cx="2190750" cy="101600"/>
          </a:xfrm>
          <a:prstGeom prst="rect">
            <a:avLst/>
          </a:prstGeom>
        </p:spPr>
      </p:pic>
      <p:sp>
        <p:nvSpPr>
          <p:cNvPr id="27" name="Text 13"/>
          <p:cNvSpPr/>
          <p:nvPr/>
        </p:nvSpPr>
        <p:spPr>
          <a:xfrm>
            <a:off x="3406775" y="5168900"/>
            <a:ext cx="3270250" cy="238720"/>
          </a:xfrm>
          <a:prstGeom prst="rect">
            <a:avLst/>
          </a:prstGeom>
          <a:noFill/>
        </p:spPr>
        <p:txBody>
          <a:bodyPr wrap="square" lIns="0" tIns="0" rIns="0" bIns="0" rtlCol="0" anchor="t">
            <a:normAutofit/>
          </a:bodyPr>
          <a:lstStyle/>
          <a:p>
            <a:pPr marL="0" indent="0" algn="ctr">
              <a:lnSpc>
                <a:spcPts val="1680"/>
              </a:lnSpc>
              <a:buNone/>
            </a:pPr>
            <a:r>
              <a:rPr lang="en-US" sz="1200" b="1" dirty="0">
                <a:solidFill>
                  <a:srgbClr val="B30D12"/>
                </a:solidFill>
                <a:latin typeface="Public Sans" pitchFamily="34" charset="0"/>
                <a:ea typeface="Public Sans" pitchFamily="34" charset="-122"/>
                <a:cs typeface="Public Sans" pitchFamily="34" charset="-120"/>
              </a:rPr>
              <a:t>Push status to customer app</a:t>
            </a:r>
            <a:endParaRPr lang="en-US" sz="1200" dirty="0"/>
          </a:p>
        </p:txBody>
      </p:sp>
      <p:pic>
        <p:nvPicPr>
          <p:cNvPr id="28" name="Image 12" descr="connector"/>
          <p:cNvPicPr>
            <a:picLocks noChangeAspect="1"/>
          </p:cNvPicPr>
          <p:nvPr/>
        </p:nvPicPr>
        <p:blipFill>
          <a:blip r:embed="rId7"/>
          <a:srcRect/>
          <a:stretch>
            <a:fillRect/>
          </a:stretch>
        </p:blipFill>
        <p:spPr>
          <a:xfrm>
            <a:off x="1828800" y="5346700"/>
            <a:ext cx="6419850" cy="101600"/>
          </a:xfrm>
          <a:prstGeom prst="rect">
            <a:avLst/>
          </a:prstGeom>
        </p:spPr>
      </p:pic>
      <p:sp>
        <p:nvSpPr>
          <p:cNvPr id="29" name="Text 14"/>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30" name="Text 15"/>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3 · TECHNICAL SOUNDNESS</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Design decisions against risks</a:t>
            </a:r>
            <a:endParaRPr lang="en-US" sz="2800" dirty="0"/>
          </a:p>
        </p:txBody>
      </p:sp>
      <p:sp>
        <p:nvSpPr>
          <p:cNvPr id="5" name="Shape 2"/>
          <p:cNvSpPr/>
          <p:nvPr/>
        </p:nvSpPr>
        <p:spPr>
          <a:xfrm>
            <a:off x="812800" y="1689050"/>
            <a:ext cx="10566400" cy="3093145"/>
          </a:xfrm>
          <a:prstGeom prst="rect">
            <a:avLst/>
          </a:prstGeom>
          <a:solidFill>
            <a:srgbClr val="FFFFFF"/>
          </a:solidFill>
        </p:spPr>
      </p:sp>
      <p:graphicFrame>
        <p:nvGraphicFramePr>
          <p:cNvPr id="6" name="Table 0"/>
          <p:cNvGraphicFramePr>
            <a:graphicFrameLocks noGrp="1"/>
          </p:cNvGraphicFramePr>
          <p:nvPr/>
        </p:nvGraphicFramePr>
        <p:xfrm>
          <a:off x="825500" y="1701750"/>
          <a:ext cx="10553700" cy="3080446"/>
        </p:xfrm>
        <a:graphic>
          <a:graphicData uri="http://schemas.openxmlformats.org/drawingml/2006/table">
            <a:tbl>
              <a:tblPr/>
              <a:tblGrid>
                <a:gridCol w="2532888"/>
                <a:gridCol w="4327017"/>
                <a:gridCol w="3693795"/>
              </a:tblGrid>
              <a:tr h="359321">
                <a:tc>
                  <a:txBody>
                    <a:bodyPr/>
                    <a:lstStyle/>
                    <a:p>
                      <a:pPr marL="0" indent="0">
                        <a:lnSpc>
                          <a:spcPts val="1820"/>
                        </a:lnSpc>
                        <a:buNone/>
                      </a:pPr>
                      <a:r>
                        <a:rPr lang="en-US" sz="1300" b="1" dirty="0">
                          <a:solidFill>
                            <a:srgbClr val="1F2430"/>
                          </a:solidFill>
                          <a:latin typeface="Public Sans" pitchFamily="34" charset="0"/>
                          <a:ea typeface="Public Sans" pitchFamily="34" charset="-122"/>
                          <a:cs typeface="Public Sans" pitchFamily="34" charset="-120"/>
                        </a:rPr>
                        <a:t>Risk</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1F2430"/>
                          </a:solidFill>
                          <a:latin typeface="Public Sans" pitchFamily="34" charset="0"/>
                          <a:ea typeface="Public Sans" pitchFamily="34" charset="-122"/>
                          <a:cs typeface="Public Sans" pitchFamily="34" charset="-120"/>
                        </a:rPr>
                        <a:t>Design decision</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1F2430"/>
                          </a:solidFill>
                          <a:latin typeface="Public Sans" pitchFamily="34" charset="0"/>
                          <a:ea typeface="Public Sans" pitchFamily="34" charset="-122"/>
                          <a:cs typeface="Public Sans" pitchFamily="34" charset="-120"/>
                        </a:rPr>
                        <a:t>Evidence</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90451">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Overselling under simultaneous orders</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Reservation-based stock model with conditional updates</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Tested with 20 simultaneous deliveries on one order</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451">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Stock leaks on cancel or expiry</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Idempotent release through conditional-update settlement</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Safe under double-cancel and cancel racing the sweeper</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Stale kitchen and menu views</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Server-Sent Events through a Durable Object hub</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Board and menu update instantly, no polling</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451">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Forged tokens and abuse</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HMAC-signed QR tokens, constant-time check, identity-keyed rate limits</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Forgeries rejected before any database lookup</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451">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Scale and release risk</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Independent service modules, Workers and Render targets</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2430"/>
                          </a:solidFill>
                          <a:latin typeface="Public Sans" pitchFamily="34" charset="0"/>
                          <a:ea typeface="Public Sans" pitchFamily="34" charset="-122"/>
                          <a:cs typeface="Public Sans" pitchFamily="34" charset="-120"/>
                        </a:rPr>
                        <a:t>115+ backend tests, 200+ concurrent requests checked</a:t>
                      </a:r>
                      <a:endParaRPr lang="en-US" sz="1300" dirty="0">
                        <a:latin typeface="Public Sans" pitchFamily="34" charset="0"/>
                        <a:ea typeface="Public Sans" pitchFamily="34" charset="0"/>
                        <a:cs typeface="Public Sans"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8" name="Text 4"/>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4"/>
        </a:solidFill>
        <a:effectLst/>
      </p:bgPr>
    </p:bg>
    <p:spTree>
      <p:nvGrpSpPr>
        <p:cNvPr id="1" name=""/>
        <p:cNvGrpSpPr/>
        <p:nvPr/>
      </p:nvGrpSpPr>
      <p:grpSpPr>
        <a:xfrm>
          <a:off x="0" y="0"/>
          <a:ext cx="0" cy="0"/>
          <a:chOff x="0" y="0"/>
          <a:chExt cx="0" cy="0"/>
        </a:xfrm>
      </p:grpSpPr>
      <p:pic>
        <p:nvPicPr>
          <p:cNvPr id="2" name="Image 0" descr="KLH Deemed to be University logo"/>
          <p:cNvPicPr>
            <a:picLocks noChangeAspect="1"/>
          </p:cNvPicPr>
          <p:nvPr/>
        </p:nvPicPr>
        <p:blipFill>
          <a:blip r:embed="rId1"/>
          <a:srcRect t="-32" b="-32"/>
          <a:stretch>
            <a:fillRect/>
          </a:stretch>
        </p:blipFill>
        <p:spPr>
          <a:xfrm>
            <a:off x="10007600" y="203200"/>
            <a:ext cx="1371600" cy="571500"/>
          </a:xfrm>
          <a:prstGeom prst="roundRect">
            <a:avLst>
              <a:gd name="adj" fmla="val 13333"/>
            </a:avLst>
          </a:prstGeom>
        </p:spPr>
      </p:pic>
      <p:sp>
        <p:nvSpPr>
          <p:cNvPr id="3"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30D12"/>
                </a:solidFill>
                <a:latin typeface="Public Sans" pitchFamily="34" charset="0"/>
                <a:ea typeface="Public Sans" pitchFamily="34" charset="-122"/>
                <a:cs typeface="Public Sans" pitchFamily="34" charset="-120"/>
              </a:rPr>
              <a:t>PART 3 · TECHNICAL SOUNDNESS</a:t>
            </a:r>
            <a:endParaRPr lang="en-US" sz="1200" dirty="0"/>
          </a:p>
        </p:txBody>
      </p:sp>
      <p:sp>
        <p:nvSpPr>
          <p:cNvPr id="4" name="Text 1"/>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1F2430"/>
                </a:solidFill>
                <a:latin typeface="Libre Baskerville" pitchFamily="34" charset="0"/>
                <a:ea typeface="Libre Baskerville" pitchFamily="34" charset="-122"/>
                <a:cs typeface="Libre Baskerville" pitchFamily="34" charset="-120"/>
              </a:rPr>
              <a:t>Security model: signed pickup tokens</a:t>
            </a:r>
            <a:endParaRPr lang="en-US" sz="2800" dirty="0"/>
          </a:p>
        </p:txBody>
      </p:sp>
      <p:sp>
        <p:nvSpPr>
          <p:cNvPr id="5" name="Shape 2"/>
          <p:cNvSpPr/>
          <p:nvPr/>
        </p:nvSpPr>
        <p:spPr>
          <a:xfrm>
            <a:off x="815975" y="1844675"/>
            <a:ext cx="1771650" cy="2025650"/>
          </a:xfrm>
          <a:prstGeom prst="roundRect">
            <a:avLst>
              <a:gd name="adj" fmla="val 6989"/>
            </a:avLst>
          </a:prstGeom>
          <a:solidFill>
            <a:srgbClr val="FFFFFF"/>
          </a:solidFill>
          <a:ln w="6350">
            <a:solidFill>
              <a:srgbClr val="E6DFD8"/>
            </a:solidFill>
            <a:prstDash val="solid"/>
          </a:ln>
        </p:spPr>
      </p:sp>
      <p:sp>
        <p:nvSpPr>
          <p:cNvPr id="6" name="Text 3"/>
          <p:cNvSpPr/>
          <p:nvPr/>
        </p:nvSpPr>
        <p:spPr>
          <a:xfrm>
            <a:off x="971550" y="2000250"/>
            <a:ext cx="355600" cy="355600"/>
          </a:xfrm>
          <a:prstGeom prst="roundRect">
            <a:avLst>
              <a:gd name="adj" fmla="val 50000"/>
            </a:avLst>
          </a:prstGeom>
          <a:solidFill>
            <a:srgbClr val="0E7C86"/>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1</a:t>
            </a:r>
            <a:endParaRPr lang="en-US" sz="1400" dirty="0"/>
          </a:p>
        </p:txBody>
      </p:sp>
      <p:sp>
        <p:nvSpPr>
          <p:cNvPr id="7" name="Text 4"/>
          <p:cNvSpPr/>
          <p:nvPr/>
        </p:nvSpPr>
        <p:spPr>
          <a:xfrm>
            <a:off x="9715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Scan</a:t>
            </a:r>
            <a:endParaRPr lang="en-US" sz="1600" dirty="0"/>
          </a:p>
        </p:txBody>
      </p:sp>
      <p:sp>
        <p:nvSpPr>
          <p:cNvPr id="8" name="Text 5"/>
          <p:cNvSpPr/>
          <p:nvPr/>
        </p:nvSpPr>
        <p:spPr>
          <a:xfrm>
            <a:off x="9715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Guest scans the campus QR, no account needed.</a:t>
            </a:r>
            <a:endParaRPr lang="en-US" sz="1300" dirty="0"/>
          </a:p>
        </p:txBody>
      </p:sp>
      <p:sp>
        <p:nvSpPr>
          <p:cNvPr id="9" name="Shape 6"/>
          <p:cNvSpPr/>
          <p:nvPr/>
        </p:nvSpPr>
        <p:spPr>
          <a:xfrm>
            <a:off x="3013075" y="1844675"/>
            <a:ext cx="1771650" cy="2025650"/>
          </a:xfrm>
          <a:prstGeom prst="roundRect">
            <a:avLst>
              <a:gd name="adj" fmla="val 6989"/>
            </a:avLst>
          </a:prstGeom>
          <a:solidFill>
            <a:srgbClr val="FFFFFF"/>
          </a:solidFill>
          <a:ln w="6350">
            <a:solidFill>
              <a:srgbClr val="E6DFD8"/>
            </a:solidFill>
            <a:prstDash val="solid"/>
          </a:ln>
        </p:spPr>
      </p:sp>
      <p:sp>
        <p:nvSpPr>
          <p:cNvPr id="10" name="Text 7"/>
          <p:cNvSpPr/>
          <p:nvPr/>
        </p:nvSpPr>
        <p:spPr>
          <a:xfrm>
            <a:off x="3168650" y="2000250"/>
            <a:ext cx="355600" cy="355600"/>
          </a:xfrm>
          <a:prstGeom prst="roundRect">
            <a:avLst>
              <a:gd name="adj" fmla="val 50000"/>
            </a:avLst>
          </a:prstGeom>
          <a:solidFill>
            <a:srgbClr val="0E7C86"/>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2</a:t>
            </a:r>
            <a:endParaRPr lang="en-US" sz="1400" dirty="0"/>
          </a:p>
        </p:txBody>
      </p:sp>
      <p:sp>
        <p:nvSpPr>
          <p:cNvPr id="11" name="Text 8"/>
          <p:cNvSpPr/>
          <p:nvPr/>
        </p:nvSpPr>
        <p:spPr>
          <a:xfrm>
            <a:off x="31686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Sign</a:t>
            </a:r>
            <a:endParaRPr lang="en-US" sz="1600" dirty="0"/>
          </a:p>
        </p:txBody>
      </p:sp>
      <p:sp>
        <p:nvSpPr>
          <p:cNvPr id="12" name="Text 9"/>
          <p:cNvSpPr/>
          <p:nvPr/>
        </p:nvSpPr>
        <p:spPr>
          <a:xfrm>
            <a:off x="31686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Server signs a prefixed, time-limited token.</a:t>
            </a:r>
            <a:endParaRPr lang="en-US" sz="1300" dirty="0"/>
          </a:p>
        </p:txBody>
      </p:sp>
      <p:sp>
        <p:nvSpPr>
          <p:cNvPr id="13" name="Shape 10"/>
          <p:cNvSpPr/>
          <p:nvPr/>
        </p:nvSpPr>
        <p:spPr>
          <a:xfrm>
            <a:off x="5210175" y="1844675"/>
            <a:ext cx="1771650" cy="2025650"/>
          </a:xfrm>
          <a:prstGeom prst="roundRect">
            <a:avLst>
              <a:gd name="adj" fmla="val 6989"/>
            </a:avLst>
          </a:prstGeom>
          <a:solidFill>
            <a:srgbClr val="FFFFFF"/>
          </a:solidFill>
          <a:ln w="6350">
            <a:solidFill>
              <a:srgbClr val="E6DFD8"/>
            </a:solidFill>
            <a:prstDash val="solid"/>
          </a:ln>
        </p:spPr>
      </p:sp>
      <p:sp>
        <p:nvSpPr>
          <p:cNvPr id="14" name="Text 11"/>
          <p:cNvSpPr/>
          <p:nvPr/>
        </p:nvSpPr>
        <p:spPr>
          <a:xfrm>
            <a:off x="5365750" y="2000250"/>
            <a:ext cx="355600" cy="355600"/>
          </a:xfrm>
          <a:prstGeom prst="roundRect">
            <a:avLst>
              <a:gd name="adj" fmla="val 50000"/>
            </a:avLst>
          </a:prstGeom>
          <a:solidFill>
            <a:srgbClr val="0E7C86"/>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3</a:t>
            </a:r>
            <a:endParaRPr lang="en-US" sz="1400" dirty="0"/>
          </a:p>
        </p:txBody>
      </p:sp>
      <p:sp>
        <p:nvSpPr>
          <p:cNvPr id="15" name="Text 12"/>
          <p:cNvSpPr/>
          <p:nvPr/>
        </p:nvSpPr>
        <p:spPr>
          <a:xfrm>
            <a:off x="53657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Present</a:t>
            </a:r>
            <a:endParaRPr lang="en-US" sz="1600" dirty="0"/>
          </a:p>
        </p:txBody>
      </p:sp>
      <p:sp>
        <p:nvSpPr>
          <p:cNvPr id="16" name="Text 13"/>
          <p:cNvSpPr/>
          <p:nvPr/>
        </p:nvSpPr>
        <p:spPr>
          <a:xfrm>
            <a:off x="53657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Guest shows the pickup QR at the counter.</a:t>
            </a:r>
            <a:endParaRPr lang="en-US" sz="1300" dirty="0"/>
          </a:p>
        </p:txBody>
      </p:sp>
      <p:sp>
        <p:nvSpPr>
          <p:cNvPr id="17" name="Shape 14"/>
          <p:cNvSpPr/>
          <p:nvPr/>
        </p:nvSpPr>
        <p:spPr>
          <a:xfrm>
            <a:off x="7407275" y="1844675"/>
            <a:ext cx="1771650" cy="2025650"/>
          </a:xfrm>
          <a:prstGeom prst="roundRect">
            <a:avLst>
              <a:gd name="adj" fmla="val 6989"/>
            </a:avLst>
          </a:prstGeom>
          <a:solidFill>
            <a:srgbClr val="FFFFFF"/>
          </a:solidFill>
          <a:ln w="6350">
            <a:solidFill>
              <a:srgbClr val="E6DFD8"/>
            </a:solidFill>
            <a:prstDash val="solid"/>
          </a:ln>
        </p:spPr>
      </p:sp>
      <p:sp>
        <p:nvSpPr>
          <p:cNvPr id="18" name="Text 15"/>
          <p:cNvSpPr/>
          <p:nvPr/>
        </p:nvSpPr>
        <p:spPr>
          <a:xfrm>
            <a:off x="7562850" y="2000250"/>
            <a:ext cx="355600" cy="355600"/>
          </a:xfrm>
          <a:prstGeom prst="roundRect">
            <a:avLst>
              <a:gd name="adj" fmla="val 50000"/>
            </a:avLst>
          </a:prstGeom>
          <a:solidFill>
            <a:srgbClr val="0E7C86"/>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4</a:t>
            </a:r>
            <a:endParaRPr lang="en-US" sz="1400" dirty="0"/>
          </a:p>
        </p:txBody>
      </p:sp>
      <p:sp>
        <p:nvSpPr>
          <p:cNvPr id="19" name="Text 16"/>
          <p:cNvSpPr/>
          <p:nvPr/>
        </p:nvSpPr>
        <p:spPr>
          <a:xfrm>
            <a:off x="7562850" y="2457450"/>
            <a:ext cx="1511300"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Verify</a:t>
            </a:r>
            <a:endParaRPr lang="en-US" sz="1600" dirty="0"/>
          </a:p>
        </p:txBody>
      </p:sp>
      <p:sp>
        <p:nvSpPr>
          <p:cNvPr id="20" name="Text 17"/>
          <p:cNvSpPr/>
          <p:nvPr/>
        </p:nvSpPr>
        <p:spPr>
          <a:xfrm>
            <a:off x="7562850" y="2802880"/>
            <a:ext cx="1511300" cy="71879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160"/>
                </a:solidFill>
                <a:latin typeface="Public Sans" pitchFamily="34" charset="0"/>
                <a:ea typeface="Public Sans" pitchFamily="34" charset="-122"/>
                <a:cs typeface="Public Sans" pitchFamily="34" charset="-120"/>
              </a:rPr>
              <a:t>Prefix, expiry and constant-time HMAC check.</a:t>
            </a:r>
            <a:endParaRPr lang="en-US" sz="1300" dirty="0"/>
          </a:p>
        </p:txBody>
      </p:sp>
      <p:sp>
        <p:nvSpPr>
          <p:cNvPr id="21" name="Shape 18"/>
          <p:cNvSpPr/>
          <p:nvPr/>
        </p:nvSpPr>
        <p:spPr>
          <a:xfrm>
            <a:off x="9604375" y="1844675"/>
            <a:ext cx="1771650" cy="2025650"/>
          </a:xfrm>
          <a:prstGeom prst="roundRect">
            <a:avLst>
              <a:gd name="adj" fmla="val 6989"/>
            </a:avLst>
          </a:prstGeom>
          <a:solidFill>
            <a:srgbClr val="FFFFFF"/>
          </a:solidFill>
          <a:ln w="6350">
            <a:solidFill>
              <a:srgbClr val="E6DFD8"/>
            </a:solidFill>
            <a:prstDash val="solid"/>
          </a:ln>
        </p:spPr>
      </p:sp>
      <p:sp>
        <p:nvSpPr>
          <p:cNvPr id="22" name="Text 19"/>
          <p:cNvSpPr/>
          <p:nvPr/>
        </p:nvSpPr>
        <p:spPr>
          <a:xfrm>
            <a:off x="9759950" y="2000250"/>
            <a:ext cx="355600" cy="355600"/>
          </a:xfrm>
          <a:prstGeom prst="roundRect">
            <a:avLst>
              <a:gd name="adj" fmla="val 50000"/>
            </a:avLst>
          </a:prstGeom>
          <a:solidFill>
            <a:srgbClr val="B30D12"/>
          </a:solidFill>
        </p:spPr>
        <p:txBody>
          <a:bodyPr wrap="square" lIns="0" tIns="0" rIns="0" bIns="0" rtlCol="0" anchor="ctr">
            <a:normAutofit/>
          </a:bodyPr>
          <a:lstStyle/>
          <a:p>
            <a:pPr marL="0" indent="0" algn="ctr">
              <a:lnSpc>
                <a:spcPts val="1960"/>
              </a:lnSpc>
              <a:buNone/>
            </a:pPr>
            <a:r>
              <a:rPr lang="en-US" sz="1400" b="1" dirty="0">
                <a:solidFill>
                  <a:srgbClr val="FFFFFF"/>
                </a:solidFill>
                <a:latin typeface="Public Sans" pitchFamily="34" charset="0"/>
                <a:ea typeface="Public Sans" pitchFamily="34" charset="-122"/>
                <a:cs typeface="Public Sans" pitchFamily="34" charset="-120"/>
              </a:rPr>
              <a:t>5</a:t>
            </a:r>
            <a:endParaRPr lang="en-US" sz="1400" dirty="0"/>
          </a:p>
        </p:txBody>
      </p:sp>
      <p:sp>
        <p:nvSpPr>
          <p:cNvPr id="23" name="Text 20"/>
          <p:cNvSpPr/>
          <p:nvPr/>
        </p:nvSpPr>
        <p:spPr>
          <a:xfrm>
            <a:off x="9759950" y="2457450"/>
            <a:ext cx="1511300" cy="266601"/>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Collect</a:t>
            </a:r>
            <a:endParaRPr lang="en-US" sz="1600" dirty="0"/>
          </a:p>
        </p:txBody>
      </p:sp>
      <p:sp>
        <p:nvSpPr>
          <p:cNvPr id="24" name="Text 21"/>
          <p:cNvSpPr/>
          <p:nvPr/>
        </p:nvSpPr>
        <p:spPr>
          <a:xfrm>
            <a:off x="9759950" y="2800251"/>
            <a:ext cx="1511300" cy="939899"/>
          </a:xfrm>
          <a:prstGeom prst="rect">
            <a:avLst/>
          </a:prstGeom>
          <a:noFill/>
        </p:spPr>
        <p:txBody>
          <a:bodyPr wrap="square" lIns="0" tIns="0" rIns="0" bIns="0" rtlCol="0" anchor="t">
            <a:normAutofit/>
          </a:bodyPr>
          <a:lstStyle/>
          <a:p>
            <a:pPr marL="0" indent="0" algn="l">
              <a:lnSpc>
                <a:spcPts val="1805"/>
              </a:lnSpc>
              <a:buNone/>
            </a:pPr>
            <a:r>
              <a:rPr lang="en-US" sz="1290" dirty="0">
                <a:solidFill>
                  <a:srgbClr val="4A5160"/>
                </a:solidFill>
                <a:latin typeface="Public Sans" pitchFamily="34" charset="0"/>
                <a:ea typeface="Public Sans" pitchFamily="34" charset="-122"/>
                <a:cs typeface="Public Sans" pitchFamily="34" charset="-120"/>
              </a:rPr>
              <a:t>Valid orders are collected; forgeries stop early.</a:t>
            </a:r>
            <a:endParaRPr lang="en-US" sz="1290" dirty="0"/>
          </a:p>
        </p:txBody>
      </p:sp>
      <p:pic>
        <p:nvPicPr>
          <p:cNvPr id="25" name="Image 1" descr="connector"/>
          <p:cNvPicPr>
            <a:picLocks noChangeAspect="1"/>
          </p:cNvPicPr>
          <p:nvPr/>
        </p:nvPicPr>
        <p:blipFill>
          <a:blip r:embed="rId2"/>
          <a:srcRect/>
          <a:stretch>
            <a:fillRect/>
          </a:stretch>
        </p:blipFill>
        <p:spPr>
          <a:xfrm>
            <a:off x="2552700" y="2806700"/>
            <a:ext cx="495300" cy="101600"/>
          </a:xfrm>
          <a:prstGeom prst="rect">
            <a:avLst/>
          </a:prstGeom>
        </p:spPr>
      </p:pic>
      <p:pic>
        <p:nvPicPr>
          <p:cNvPr id="26" name="Image 2" descr="connector"/>
          <p:cNvPicPr>
            <a:picLocks noChangeAspect="1"/>
          </p:cNvPicPr>
          <p:nvPr/>
        </p:nvPicPr>
        <p:blipFill>
          <a:blip r:embed="rId2"/>
          <a:srcRect/>
          <a:stretch>
            <a:fillRect/>
          </a:stretch>
        </p:blipFill>
        <p:spPr>
          <a:xfrm>
            <a:off x="4749800" y="2806700"/>
            <a:ext cx="495300" cy="101600"/>
          </a:xfrm>
          <a:prstGeom prst="rect">
            <a:avLst/>
          </a:prstGeom>
        </p:spPr>
      </p:pic>
      <p:pic>
        <p:nvPicPr>
          <p:cNvPr id="27" name="Image 3" descr="connector"/>
          <p:cNvPicPr>
            <a:picLocks noChangeAspect="1"/>
          </p:cNvPicPr>
          <p:nvPr/>
        </p:nvPicPr>
        <p:blipFill>
          <a:blip r:embed="rId2"/>
          <a:srcRect/>
          <a:stretch>
            <a:fillRect/>
          </a:stretch>
        </p:blipFill>
        <p:spPr>
          <a:xfrm>
            <a:off x="6946900" y="2806700"/>
            <a:ext cx="495300" cy="101600"/>
          </a:xfrm>
          <a:prstGeom prst="rect">
            <a:avLst/>
          </a:prstGeom>
        </p:spPr>
      </p:pic>
      <p:pic>
        <p:nvPicPr>
          <p:cNvPr id="28" name="Image 4" descr="connector"/>
          <p:cNvPicPr>
            <a:picLocks noChangeAspect="1"/>
          </p:cNvPicPr>
          <p:nvPr/>
        </p:nvPicPr>
        <p:blipFill>
          <a:blip r:embed="rId2"/>
          <a:srcRect/>
          <a:stretch>
            <a:fillRect/>
          </a:stretch>
        </p:blipFill>
        <p:spPr>
          <a:xfrm>
            <a:off x="9144000" y="2806700"/>
            <a:ext cx="495300" cy="101600"/>
          </a:xfrm>
          <a:prstGeom prst="rect">
            <a:avLst/>
          </a:prstGeom>
        </p:spPr>
      </p:pic>
      <p:sp>
        <p:nvSpPr>
          <p:cNvPr id="29" name="Shape 22"/>
          <p:cNvSpPr/>
          <p:nvPr/>
        </p:nvSpPr>
        <p:spPr>
          <a:xfrm>
            <a:off x="812800" y="4381500"/>
            <a:ext cx="3386634" cy="1333500"/>
          </a:xfrm>
          <a:prstGeom prst="roundRect">
            <a:avLst>
              <a:gd name="adj" fmla="val 9524"/>
            </a:avLst>
          </a:prstGeom>
          <a:solidFill>
            <a:srgbClr val="F7E4E4"/>
          </a:solidFill>
        </p:spPr>
      </p:sp>
      <p:pic>
        <p:nvPicPr>
          <p:cNvPr id="30" name="Image 5" descr="Lock"/>
          <p:cNvPicPr>
            <a:picLocks noChangeAspect="1"/>
          </p:cNvPicPr>
          <p:nvPr/>
        </p:nvPicPr>
        <p:blipFill>
          <a:blip r:embed="rId3"/>
          <a:srcRect/>
          <a:stretch>
            <a:fillRect/>
          </a:stretch>
        </p:blipFill>
        <p:spPr>
          <a:xfrm>
            <a:off x="990600" y="4870450"/>
            <a:ext cx="355600" cy="355600"/>
          </a:xfrm>
          <a:prstGeom prst="rect">
            <a:avLst/>
          </a:prstGeom>
        </p:spPr>
      </p:pic>
      <p:sp>
        <p:nvSpPr>
          <p:cNvPr id="31" name="Text 23"/>
          <p:cNvSpPr/>
          <p:nvPr/>
        </p:nvSpPr>
        <p:spPr>
          <a:xfrm>
            <a:off x="1473200" y="4684415"/>
            <a:ext cx="2624887"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Tamper-proof</a:t>
            </a:r>
            <a:endParaRPr lang="en-US" sz="1600" dirty="0"/>
          </a:p>
        </p:txBody>
      </p:sp>
      <p:sp>
        <p:nvSpPr>
          <p:cNvPr id="32" name="Text 24"/>
          <p:cNvSpPr/>
          <p:nvPr/>
        </p:nvSpPr>
        <p:spPr>
          <a:xfrm>
            <a:off x="1473200" y="4966345"/>
            <a:ext cx="2624887"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F2430"/>
                </a:solidFill>
                <a:latin typeface="Public Sans" pitchFamily="34" charset="0"/>
                <a:ea typeface="Public Sans" pitchFamily="34" charset="-122"/>
                <a:cs typeface="Public Sans" pitchFamily="34" charset="-120"/>
              </a:rPr>
              <a:t>HMAC signature blocks edited or invented order IDs.</a:t>
            </a:r>
            <a:endParaRPr lang="en-US" sz="1300" dirty="0"/>
          </a:p>
        </p:txBody>
      </p:sp>
      <p:sp>
        <p:nvSpPr>
          <p:cNvPr id="33" name="Shape 25"/>
          <p:cNvSpPr/>
          <p:nvPr/>
        </p:nvSpPr>
        <p:spPr>
          <a:xfrm>
            <a:off x="4402634" y="4381500"/>
            <a:ext cx="3386683" cy="1333500"/>
          </a:xfrm>
          <a:prstGeom prst="roundRect">
            <a:avLst>
              <a:gd name="adj" fmla="val 9524"/>
            </a:avLst>
          </a:prstGeom>
          <a:solidFill>
            <a:srgbClr val="DDF0F1"/>
          </a:solidFill>
        </p:spPr>
      </p:sp>
      <p:pic>
        <p:nvPicPr>
          <p:cNvPr id="34" name="Image 6" descr="Clock"/>
          <p:cNvPicPr>
            <a:picLocks noChangeAspect="1"/>
          </p:cNvPicPr>
          <p:nvPr/>
        </p:nvPicPr>
        <p:blipFill>
          <a:blip r:embed="rId4"/>
          <a:srcRect/>
          <a:stretch>
            <a:fillRect/>
          </a:stretch>
        </p:blipFill>
        <p:spPr>
          <a:xfrm>
            <a:off x="4580434" y="4870450"/>
            <a:ext cx="355600" cy="355600"/>
          </a:xfrm>
          <a:prstGeom prst="rect">
            <a:avLst/>
          </a:prstGeom>
        </p:spPr>
      </p:pic>
      <p:sp>
        <p:nvSpPr>
          <p:cNvPr id="35" name="Text 26"/>
          <p:cNvSpPr/>
          <p:nvPr/>
        </p:nvSpPr>
        <p:spPr>
          <a:xfrm>
            <a:off x="5063034" y="4684415"/>
            <a:ext cx="2624938"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Time-limited</a:t>
            </a:r>
            <a:endParaRPr lang="en-US" sz="1600" dirty="0"/>
          </a:p>
        </p:txBody>
      </p:sp>
      <p:sp>
        <p:nvSpPr>
          <p:cNvPr id="36" name="Text 27"/>
          <p:cNvSpPr/>
          <p:nvPr/>
        </p:nvSpPr>
        <p:spPr>
          <a:xfrm>
            <a:off x="5063034" y="4966345"/>
            <a:ext cx="2624938"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F2430"/>
                </a:solidFill>
                <a:latin typeface="Public Sans" pitchFamily="34" charset="0"/>
                <a:ea typeface="Public Sans" pitchFamily="34" charset="-122"/>
                <a:cs typeface="Public Sans" pitchFamily="34" charset="-120"/>
              </a:rPr>
              <a:t>Expiry sits inside the token, so old QR codes stop working.</a:t>
            </a:r>
            <a:endParaRPr lang="en-US" sz="1300" dirty="0"/>
          </a:p>
        </p:txBody>
      </p:sp>
      <p:sp>
        <p:nvSpPr>
          <p:cNvPr id="37" name="Shape 28"/>
          <p:cNvSpPr/>
          <p:nvPr/>
        </p:nvSpPr>
        <p:spPr>
          <a:xfrm>
            <a:off x="7992517" y="4381500"/>
            <a:ext cx="3386683" cy="1333500"/>
          </a:xfrm>
          <a:prstGeom prst="roundRect">
            <a:avLst>
              <a:gd name="adj" fmla="val 9524"/>
            </a:avLst>
          </a:prstGeom>
          <a:solidFill>
            <a:srgbClr val="EEE8E1"/>
          </a:solidFill>
        </p:spPr>
      </p:sp>
      <p:pic>
        <p:nvPicPr>
          <p:cNvPr id="38" name="Image 7" descr="Activity"/>
          <p:cNvPicPr>
            <a:picLocks noChangeAspect="1"/>
          </p:cNvPicPr>
          <p:nvPr/>
        </p:nvPicPr>
        <p:blipFill>
          <a:blip r:embed="rId5"/>
          <a:srcRect/>
          <a:stretch>
            <a:fillRect/>
          </a:stretch>
        </p:blipFill>
        <p:spPr>
          <a:xfrm>
            <a:off x="8170317" y="4870450"/>
            <a:ext cx="355600" cy="355600"/>
          </a:xfrm>
          <a:prstGeom prst="rect">
            <a:avLst/>
          </a:prstGeom>
        </p:spPr>
      </p:pic>
      <p:sp>
        <p:nvSpPr>
          <p:cNvPr id="39" name="Text 29"/>
          <p:cNvSpPr/>
          <p:nvPr/>
        </p:nvSpPr>
        <p:spPr>
          <a:xfrm>
            <a:off x="8652917" y="4684415"/>
            <a:ext cx="2624938"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F2430"/>
                </a:solidFill>
                <a:latin typeface="Public Sans" pitchFamily="34" charset="0"/>
                <a:ea typeface="Public Sans" pitchFamily="34" charset="-122"/>
                <a:cs typeface="Public Sans" pitchFamily="34" charset="-120"/>
              </a:rPr>
              <a:t>Rate-limited</a:t>
            </a:r>
            <a:endParaRPr lang="en-US" sz="1600" dirty="0"/>
          </a:p>
        </p:txBody>
      </p:sp>
      <p:sp>
        <p:nvSpPr>
          <p:cNvPr id="40" name="Text 30"/>
          <p:cNvSpPr/>
          <p:nvPr/>
        </p:nvSpPr>
        <p:spPr>
          <a:xfrm>
            <a:off x="8652917" y="4966345"/>
            <a:ext cx="2624938"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F2430"/>
                </a:solidFill>
                <a:latin typeface="Public Sans" pitchFamily="34" charset="0"/>
                <a:ea typeface="Public Sans" pitchFamily="34" charset="-122"/>
                <a:cs typeface="Public Sans" pitchFamily="34" charset="-120"/>
              </a:rPr>
              <a:t>Limits are keyed by user identity per route, not by IP.</a:t>
            </a:r>
            <a:endParaRPr lang="en-US" sz="1300" dirty="0"/>
          </a:p>
        </p:txBody>
      </p:sp>
      <p:sp>
        <p:nvSpPr>
          <p:cNvPr id="41" name="Text 31"/>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66C78"/>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42" name="Text 32"/>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66C78"/>
                </a:solidFill>
                <a:latin typeface="Public Sans" pitchFamily="34" charset="0"/>
                <a:ea typeface="Public Sans" pitchFamily="34" charset="-122"/>
                <a:cs typeface="Public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30D12"/>
        </a:solidFill>
        <a:effectLst/>
      </p:bgPr>
    </p:bg>
    <p:spTree>
      <p:nvGrpSpPr>
        <p:cNvPr id="1" name=""/>
        <p:cNvGrpSpPr/>
        <p:nvPr/>
      </p:nvGrpSpPr>
      <p:grpSpPr>
        <a:xfrm>
          <a:off x="0" y="0"/>
          <a:ext cx="0" cy="0"/>
          <a:chOff x="0" y="0"/>
          <a:chExt cx="0" cy="0"/>
        </a:xfrm>
      </p:grpSpPr>
      <p:sp>
        <p:nvSpPr>
          <p:cNvPr id="2" name="Shape 0"/>
          <p:cNvSpPr/>
          <p:nvPr/>
        </p:nvSpPr>
        <p:spPr>
          <a:xfrm>
            <a:off x="9855200" y="152400"/>
            <a:ext cx="1524000" cy="635000"/>
          </a:xfrm>
          <a:prstGeom prst="roundRect">
            <a:avLst>
              <a:gd name="adj" fmla="val 14000"/>
            </a:avLst>
          </a:prstGeom>
          <a:solidFill>
            <a:srgbClr val="FFFFFF"/>
          </a:solidFill>
        </p:spPr>
      </p:sp>
      <p:pic>
        <p:nvPicPr>
          <p:cNvPr id="3" name="Image 0" descr="KLH Deemed to be University logo"/>
          <p:cNvPicPr>
            <a:picLocks noChangeAspect="1"/>
          </p:cNvPicPr>
          <p:nvPr/>
        </p:nvPicPr>
        <p:blipFill>
          <a:blip r:embed="rId1"/>
          <a:srcRect l="-5521" r="-5521"/>
          <a:stretch>
            <a:fillRect/>
          </a:stretch>
        </p:blipFill>
        <p:spPr>
          <a:xfrm>
            <a:off x="9906000" y="203200"/>
            <a:ext cx="1422400" cy="533400"/>
          </a:xfrm>
          <a:prstGeom prst="rect">
            <a:avLst/>
          </a:prstGeom>
        </p:spPr>
      </p:pic>
      <p:sp>
        <p:nvSpPr>
          <p:cNvPr id="4" name="Text 1"/>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FFD9DA"/>
                </a:solidFill>
                <a:latin typeface="Public Sans" pitchFamily="34" charset="0"/>
                <a:ea typeface="Public Sans" pitchFamily="34" charset="-122"/>
                <a:cs typeface="Public Sans" pitchFamily="34" charset="-120"/>
              </a:rPr>
              <a:t>PART 3 · TECHNICAL SOUNDNESS</a:t>
            </a:r>
            <a:endParaRPr lang="en-US" sz="1200" dirty="0"/>
          </a:p>
        </p:txBody>
      </p:sp>
      <p:sp>
        <p:nvSpPr>
          <p:cNvPr id="5" name="Text 2"/>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FFFFFF"/>
                </a:solidFill>
                <a:latin typeface="Libre Baskerville" pitchFamily="34" charset="0"/>
                <a:ea typeface="Libre Baskerville" pitchFamily="34" charset="-122"/>
                <a:cs typeface="Libre Baskerville" pitchFamily="34" charset="-120"/>
              </a:rPr>
              <a:t>Verified results</a:t>
            </a:r>
            <a:endParaRPr lang="en-US" sz="2800" dirty="0"/>
          </a:p>
        </p:txBody>
      </p:sp>
      <p:sp>
        <p:nvSpPr>
          <p:cNvPr id="6" name="Shape 3"/>
          <p:cNvSpPr/>
          <p:nvPr/>
        </p:nvSpPr>
        <p:spPr>
          <a:xfrm>
            <a:off x="819150" y="1695400"/>
            <a:ext cx="2476500" cy="3670350"/>
          </a:xfrm>
          <a:prstGeom prst="roundRect">
            <a:avLst>
              <a:gd name="adj" fmla="val 4872"/>
            </a:avLst>
          </a:prstGeom>
          <a:noFill/>
          <a:ln w="12700">
            <a:solidFill>
              <a:srgbClr val="E98A8E"/>
            </a:solidFill>
            <a:prstDash val="solid"/>
          </a:ln>
        </p:spPr>
      </p:sp>
      <p:sp>
        <p:nvSpPr>
          <p:cNvPr id="7" name="Text 4"/>
          <p:cNvSpPr/>
          <p:nvPr/>
        </p:nvSpPr>
        <p:spPr>
          <a:xfrm>
            <a:off x="1028700" y="3005435"/>
            <a:ext cx="2119122" cy="751830"/>
          </a:xfrm>
          <a:prstGeom prst="rect">
            <a:avLst/>
          </a:prstGeom>
          <a:noFill/>
        </p:spPr>
        <p:txBody>
          <a:bodyPr wrap="square" lIns="0" tIns="0" rIns="0" bIns="0" rtlCol="0" anchor="t">
            <a:normAutofit/>
          </a:bodyPr>
          <a:lstStyle/>
          <a:p>
            <a:pPr marL="0" indent="0" algn="l">
              <a:lnSpc>
                <a:spcPts val="5720"/>
              </a:lnSpc>
              <a:buNone/>
            </a:pPr>
            <a:r>
              <a:rPr lang="en-US" sz="5200" b="1" dirty="0">
                <a:solidFill>
                  <a:srgbClr val="FFFFFF"/>
                </a:solidFill>
                <a:latin typeface="Libre Baskerville" pitchFamily="34" charset="0"/>
                <a:ea typeface="Libre Baskerville" pitchFamily="34" charset="-122"/>
                <a:cs typeface="Libre Baskerville" pitchFamily="34" charset="-120"/>
              </a:rPr>
              <a:t>115+</a:t>
            </a:r>
            <a:endParaRPr lang="en-US" sz="5200" dirty="0"/>
          </a:p>
        </p:txBody>
      </p:sp>
      <p:sp>
        <p:nvSpPr>
          <p:cNvPr id="8" name="Text 5"/>
          <p:cNvSpPr/>
          <p:nvPr/>
        </p:nvSpPr>
        <p:spPr>
          <a:xfrm>
            <a:off x="1028700" y="3808065"/>
            <a:ext cx="2119122" cy="27305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FFFFFF"/>
                </a:solidFill>
                <a:latin typeface="Public Sans" pitchFamily="34" charset="0"/>
                <a:ea typeface="Public Sans" pitchFamily="34" charset="-122"/>
                <a:cs typeface="Public Sans" pitchFamily="34" charset="-120"/>
              </a:rPr>
              <a:t>backend tests passing</a:t>
            </a:r>
            <a:endParaRPr lang="en-US" sz="1500" dirty="0"/>
          </a:p>
        </p:txBody>
      </p:sp>
      <p:sp>
        <p:nvSpPr>
          <p:cNvPr id="9" name="Shape 6"/>
          <p:cNvSpPr/>
          <p:nvPr/>
        </p:nvSpPr>
        <p:spPr>
          <a:xfrm>
            <a:off x="3511550" y="1695400"/>
            <a:ext cx="2476500" cy="3670350"/>
          </a:xfrm>
          <a:prstGeom prst="roundRect">
            <a:avLst>
              <a:gd name="adj" fmla="val 4872"/>
            </a:avLst>
          </a:prstGeom>
          <a:noFill/>
          <a:ln w="12700">
            <a:solidFill>
              <a:srgbClr val="E98A8E"/>
            </a:solidFill>
            <a:prstDash val="solid"/>
          </a:ln>
        </p:spPr>
      </p:sp>
      <p:sp>
        <p:nvSpPr>
          <p:cNvPr id="10" name="Text 7"/>
          <p:cNvSpPr/>
          <p:nvPr/>
        </p:nvSpPr>
        <p:spPr>
          <a:xfrm>
            <a:off x="3721100" y="2881610"/>
            <a:ext cx="2119122" cy="751830"/>
          </a:xfrm>
          <a:prstGeom prst="rect">
            <a:avLst/>
          </a:prstGeom>
          <a:noFill/>
        </p:spPr>
        <p:txBody>
          <a:bodyPr wrap="square" lIns="0" tIns="0" rIns="0" bIns="0" rtlCol="0" anchor="t">
            <a:normAutofit/>
          </a:bodyPr>
          <a:lstStyle/>
          <a:p>
            <a:pPr marL="0" indent="0" algn="l">
              <a:lnSpc>
                <a:spcPts val="5720"/>
              </a:lnSpc>
              <a:buNone/>
            </a:pPr>
            <a:r>
              <a:rPr lang="en-US" sz="5200" b="1" dirty="0">
                <a:solidFill>
                  <a:srgbClr val="FFFFFF"/>
                </a:solidFill>
                <a:latin typeface="Libre Baskerville" pitchFamily="34" charset="0"/>
                <a:ea typeface="Libre Baskerville" pitchFamily="34" charset="-122"/>
                <a:cs typeface="Libre Baskerville" pitchFamily="34" charset="-120"/>
              </a:rPr>
              <a:t>200+</a:t>
            </a:r>
            <a:endParaRPr lang="en-US" sz="5200" dirty="0"/>
          </a:p>
        </p:txBody>
      </p:sp>
      <p:sp>
        <p:nvSpPr>
          <p:cNvPr id="11" name="Text 8"/>
          <p:cNvSpPr/>
          <p:nvPr/>
        </p:nvSpPr>
        <p:spPr>
          <a:xfrm>
            <a:off x="3721100" y="3684240"/>
            <a:ext cx="2119122" cy="52070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FFFFFF"/>
                </a:solidFill>
                <a:latin typeface="Public Sans" pitchFamily="34" charset="0"/>
                <a:ea typeface="Public Sans" pitchFamily="34" charset="-122"/>
                <a:cs typeface="Public Sans" pitchFamily="34" charset="-120"/>
              </a:rPr>
              <a:t>concurrent requests verified</a:t>
            </a:r>
            <a:endParaRPr lang="en-US" sz="1500" dirty="0"/>
          </a:p>
        </p:txBody>
      </p:sp>
      <p:sp>
        <p:nvSpPr>
          <p:cNvPr id="12" name="Shape 9"/>
          <p:cNvSpPr/>
          <p:nvPr/>
        </p:nvSpPr>
        <p:spPr>
          <a:xfrm>
            <a:off x="6203950" y="1695400"/>
            <a:ext cx="2476500" cy="3670350"/>
          </a:xfrm>
          <a:prstGeom prst="roundRect">
            <a:avLst>
              <a:gd name="adj" fmla="val 4872"/>
            </a:avLst>
          </a:prstGeom>
          <a:noFill/>
          <a:ln w="12700">
            <a:solidFill>
              <a:srgbClr val="E98A8E"/>
            </a:solidFill>
            <a:prstDash val="solid"/>
          </a:ln>
        </p:spPr>
      </p:sp>
      <p:sp>
        <p:nvSpPr>
          <p:cNvPr id="13" name="Text 10"/>
          <p:cNvSpPr/>
          <p:nvPr/>
        </p:nvSpPr>
        <p:spPr>
          <a:xfrm>
            <a:off x="6413500" y="2518370"/>
            <a:ext cx="2119122" cy="1478260"/>
          </a:xfrm>
          <a:prstGeom prst="rect">
            <a:avLst/>
          </a:prstGeom>
          <a:noFill/>
        </p:spPr>
        <p:txBody>
          <a:bodyPr wrap="square" lIns="0" tIns="0" rIns="0" bIns="0" rtlCol="0" anchor="t">
            <a:normAutofit/>
          </a:bodyPr>
          <a:lstStyle/>
          <a:p>
            <a:pPr marL="0" indent="0" algn="l">
              <a:lnSpc>
                <a:spcPts val="5720"/>
              </a:lnSpc>
              <a:buNone/>
            </a:pPr>
            <a:r>
              <a:rPr lang="en-US" sz="5200" b="1" dirty="0">
                <a:solidFill>
                  <a:srgbClr val="FFFFFF"/>
                </a:solidFill>
                <a:latin typeface="Libre Baskerville" pitchFamily="34" charset="0"/>
                <a:ea typeface="Libre Baskerville" pitchFamily="34" charset="-122"/>
                <a:cs typeface="Libre Baskerville" pitchFamily="34" charset="-120"/>
              </a:rPr>
              <a:t>1000+</a:t>
            </a:r>
            <a:endParaRPr lang="en-US" sz="5200" dirty="0"/>
          </a:p>
        </p:txBody>
      </p:sp>
      <p:sp>
        <p:nvSpPr>
          <p:cNvPr id="14" name="Text 11"/>
          <p:cNvSpPr/>
          <p:nvPr/>
        </p:nvSpPr>
        <p:spPr>
          <a:xfrm>
            <a:off x="6413500" y="4047430"/>
            <a:ext cx="2119122" cy="52070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FFFFFF"/>
                </a:solidFill>
                <a:latin typeface="Public Sans" pitchFamily="34" charset="0"/>
                <a:ea typeface="Public Sans" pitchFamily="34" charset="-122"/>
                <a:cs typeface="Public Sans" pitchFamily="34" charset="-120"/>
              </a:rPr>
              <a:t>registered users, campus scale</a:t>
            </a:r>
            <a:endParaRPr lang="en-US" sz="1500" dirty="0"/>
          </a:p>
        </p:txBody>
      </p:sp>
      <p:sp>
        <p:nvSpPr>
          <p:cNvPr id="15" name="Shape 12"/>
          <p:cNvSpPr/>
          <p:nvPr/>
        </p:nvSpPr>
        <p:spPr>
          <a:xfrm>
            <a:off x="8896350" y="1695400"/>
            <a:ext cx="2476500" cy="3670350"/>
          </a:xfrm>
          <a:prstGeom prst="roundRect">
            <a:avLst>
              <a:gd name="adj" fmla="val 4872"/>
            </a:avLst>
          </a:prstGeom>
          <a:noFill/>
          <a:ln w="12700">
            <a:solidFill>
              <a:srgbClr val="E98A8E"/>
            </a:solidFill>
            <a:prstDash val="solid"/>
          </a:ln>
        </p:spPr>
      </p:sp>
      <p:sp>
        <p:nvSpPr>
          <p:cNvPr id="16" name="Text 13"/>
          <p:cNvSpPr/>
          <p:nvPr/>
        </p:nvSpPr>
        <p:spPr>
          <a:xfrm>
            <a:off x="9105900" y="2881610"/>
            <a:ext cx="2119122" cy="751830"/>
          </a:xfrm>
          <a:prstGeom prst="rect">
            <a:avLst/>
          </a:prstGeom>
          <a:noFill/>
        </p:spPr>
        <p:txBody>
          <a:bodyPr wrap="square" lIns="0" tIns="0" rIns="0" bIns="0" rtlCol="0" anchor="t">
            <a:normAutofit/>
          </a:bodyPr>
          <a:lstStyle/>
          <a:p>
            <a:pPr marL="0" indent="0" algn="l">
              <a:lnSpc>
                <a:spcPts val="5720"/>
              </a:lnSpc>
              <a:buNone/>
            </a:pPr>
            <a:r>
              <a:rPr lang="en-US" sz="5200" b="1" dirty="0">
                <a:solidFill>
                  <a:srgbClr val="FFFFFF"/>
                </a:solidFill>
                <a:latin typeface="Libre Baskerville" pitchFamily="34" charset="0"/>
                <a:ea typeface="Libre Baskerville" pitchFamily="34" charset="-122"/>
                <a:cs typeface="Libre Baskerville" pitchFamily="34" charset="-120"/>
              </a:rPr>
              <a:t>2</a:t>
            </a:r>
            <a:endParaRPr lang="en-US" sz="5200" dirty="0"/>
          </a:p>
        </p:txBody>
      </p:sp>
      <p:sp>
        <p:nvSpPr>
          <p:cNvPr id="17" name="Text 14"/>
          <p:cNvSpPr/>
          <p:nvPr/>
        </p:nvSpPr>
        <p:spPr>
          <a:xfrm>
            <a:off x="9105900" y="3684240"/>
            <a:ext cx="2119122" cy="52070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FFFFFF"/>
                </a:solidFill>
                <a:latin typeface="Public Sans" pitchFamily="34" charset="0"/>
                <a:ea typeface="Public Sans" pitchFamily="34" charset="-122"/>
                <a:cs typeface="Public Sans" pitchFamily="34" charset="-120"/>
              </a:rPr>
              <a:t>deployable runtimes: Workers and Render</a:t>
            </a:r>
            <a:endParaRPr lang="en-US" sz="1500" dirty="0"/>
          </a:p>
        </p:txBody>
      </p:sp>
      <p:sp>
        <p:nvSpPr>
          <p:cNvPr id="18" name="Text 15"/>
          <p:cNvSpPr/>
          <p:nvPr/>
        </p:nvSpPr>
        <p:spPr>
          <a:xfrm>
            <a:off x="812800" y="5575300"/>
            <a:ext cx="1088339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FFFFFF"/>
                </a:solidFill>
                <a:latin typeface="Public Sans" pitchFamily="34" charset="0"/>
                <a:ea typeface="Public Sans" pitchFamily="34" charset="-122"/>
                <a:cs typeface="Public Sans" pitchFamily="34" charset="-120"/>
              </a:rPr>
              <a:t>Stock reservation was also tested under 20 simultaneous deliveries on a single order.</a:t>
            </a:r>
            <a:endParaRPr lang="en-US" sz="1500" dirty="0"/>
          </a:p>
        </p:txBody>
      </p:sp>
      <p:sp>
        <p:nvSpPr>
          <p:cNvPr id="19" name="Text 16"/>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FFE3E4"/>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20" name="Text 17"/>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FFE3E4"/>
                </a:solidFill>
                <a:latin typeface="Public Sans" pitchFamily="34" charset="0"/>
                <a:ea typeface="Public Sans" pitchFamily="34" charset="-122"/>
                <a:cs typeface="Public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2430"/>
        </a:solidFill>
        <a:effectLst/>
      </p:bgPr>
    </p:bg>
    <p:spTree>
      <p:nvGrpSpPr>
        <p:cNvPr id="1" name=""/>
        <p:cNvGrpSpPr/>
        <p:nvPr/>
      </p:nvGrpSpPr>
      <p:grpSpPr>
        <a:xfrm>
          <a:off x="0" y="0"/>
          <a:ext cx="0" cy="0"/>
          <a:chOff x="0" y="0"/>
          <a:chExt cx="0" cy="0"/>
        </a:xfrm>
      </p:grpSpPr>
      <p:sp>
        <p:nvSpPr>
          <p:cNvPr id="2" name="Shape 0"/>
          <p:cNvSpPr/>
          <p:nvPr/>
        </p:nvSpPr>
        <p:spPr>
          <a:xfrm>
            <a:off x="9855200" y="152400"/>
            <a:ext cx="1524000" cy="635000"/>
          </a:xfrm>
          <a:prstGeom prst="roundRect">
            <a:avLst>
              <a:gd name="adj" fmla="val 14000"/>
            </a:avLst>
          </a:prstGeom>
          <a:solidFill>
            <a:srgbClr val="FFFFFF"/>
          </a:solidFill>
        </p:spPr>
      </p:sp>
      <p:pic>
        <p:nvPicPr>
          <p:cNvPr id="3" name="Image 0" descr="KLH Deemed to be University logo"/>
          <p:cNvPicPr>
            <a:picLocks noChangeAspect="1"/>
          </p:cNvPicPr>
          <p:nvPr/>
        </p:nvPicPr>
        <p:blipFill>
          <a:blip r:embed="rId1"/>
          <a:srcRect l="-5521" r="-5521"/>
          <a:stretch>
            <a:fillRect/>
          </a:stretch>
        </p:blipFill>
        <p:spPr>
          <a:xfrm>
            <a:off x="9906000" y="203200"/>
            <a:ext cx="1422400" cy="533400"/>
          </a:xfrm>
          <a:prstGeom prst="rect">
            <a:avLst/>
          </a:prstGeom>
        </p:spPr>
      </p:pic>
      <p:sp>
        <p:nvSpPr>
          <p:cNvPr id="4" name="Text 1"/>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F08A8D"/>
                </a:solidFill>
                <a:latin typeface="Public Sans" pitchFamily="34" charset="0"/>
                <a:ea typeface="Public Sans" pitchFamily="34" charset="-122"/>
                <a:cs typeface="Public Sans" pitchFamily="34" charset="-120"/>
              </a:rPr>
              <a:t>WRAP-UP</a:t>
            </a:r>
            <a:endParaRPr lang="en-US" sz="1200" dirty="0"/>
          </a:p>
        </p:txBody>
      </p:sp>
      <p:sp>
        <p:nvSpPr>
          <p:cNvPr id="5" name="Text 2"/>
          <p:cNvSpPr/>
          <p:nvPr>
            <p:ph type="title"/>
          </p:nvPr>
        </p:nvSpPr>
        <p:spPr>
          <a:xfrm>
            <a:off x="812800" y="1076920"/>
            <a:ext cx="10883392" cy="434330"/>
          </a:xfrm>
          <a:prstGeom prst="rect">
            <a:avLst/>
          </a:prstGeom>
          <a:noFill/>
        </p:spPr>
        <p:txBody>
          <a:bodyPr wrap="square" lIns="0" tIns="0" rIns="0" bIns="0" rtlCol="0" anchor="t">
            <a:normAutofit/>
          </a:bodyPr>
          <a:lstStyle/>
          <a:p>
            <a:pPr marL="0" indent="0" algn="l">
              <a:lnSpc>
                <a:spcPts val="3220"/>
              </a:lnSpc>
              <a:buNone/>
            </a:pPr>
            <a:r>
              <a:rPr lang="en-US" sz="2800" b="1" i="0" dirty="0">
                <a:solidFill>
                  <a:srgbClr val="FFFFFF"/>
                </a:solidFill>
                <a:latin typeface="Libre Baskerville" pitchFamily="34" charset="0"/>
                <a:ea typeface="Libre Baskerville" pitchFamily="34" charset="-122"/>
                <a:cs typeface="Libre Baskerville" pitchFamily="34" charset="-120"/>
              </a:rPr>
              <a:t>Conclusion and future scope</a:t>
            </a:r>
            <a:endParaRPr lang="en-US" sz="2800" dirty="0"/>
          </a:p>
        </p:txBody>
      </p:sp>
      <p:sp>
        <p:nvSpPr>
          <p:cNvPr id="6" name="Shape 3"/>
          <p:cNvSpPr/>
          <p:nvPr/>
        </p:nvSpPr>
        <p:spPr>
          <a:xfrm>
            <a:off x="812800" y="1689050"/>
            <a:ext cx="6116340" cy="4152950"/>
          </a:xfrm>
          <a:prstGeom prst="roundRect">
            <a:avLst>
              <a:gd name="adj" fmla="val 3058"/>
            </a:avLst>
          </a:prstGeom>
          <a:solidFill>
            <a:srgbClr val="2A3040"/>
          </a:solidFill>
        </p:spPr>
      </p:sp>
      <p:sp>
        <p:nvSpPr>
          <p:cNvPr id="7" name="Text 4"/>
          <p:cNvSpPr/>
          <p:nvPr/>
        </p:nvSpPr>
        <p:spPr>
          <a:xfrm>
            <a:off x="1066800" y="1943050"/>
            <a:ext cx="5776590"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FFFFF"/>
                </a:solidFill>
                <a:latin typeface="Public Sans" pitchFamily="34" charset="0"/>
                <a:ea typeface="Public Sans" pitchFamily="34" charset="-122"/>
                <a:cs typeface="Public Sans" pitchFamily="34" charset="-120"/>
              </a:rPr>
              <a:t>Conclusion</a:t>
            </a:r>
            <a:endParaRPr lang="en-US" sz="1800" dirty="0"/>
          </a:p>
        </p:txBody>
      </p:sp>
      <p:sp>
        <p:nvSpPr>
          <p:cNvPr id="8" name="Text 5"/>
          <p:cNvSpPr/>
          <p:nvPr/>
        </p:nvSpPr>
        <p:spPr>
          <a:xfrm>
            <a:off x="1066800" y="2344341"/>
            <a:ext cx="5776590" cy="1739900"/>
          </a:xfrm>
          <a:prstGeom prst="rect">
            <a:avLst/>
          </a:prstGeom>
          <a:noFill/>
        </p:spPr>
        <p:txBody>
          <a:bodyPr wrap="square" lIns="0" tIns="0" rIns="0" bIns="0" rtlCol="0" anchor="t">
            <a:normAutofit/>
          </a:bodyPr>
          <a:lstStyle/>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A role-based pre-ordering system for students, guests and kitchen admins is built and tested.</a:t>
            </a:r>
            <a:endParaRPr lang="en-US" sz="1500" dirty="0"/>
          </a:p>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Stock reservation, live SSE updates and signed QR tokens close the gaps found in the literature.</a:t>
            </a:r>
            <a:endParaRPr lang="en-US" sz="1500" dirty="0"/>
          </a:p>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A modular API and dual deployment keep the system simple to scale and ship.</a:t>
            </a:r>
            <a:endParaRPr lang="en-US" sz="1500" dirty="0"/>
          </a:p>
        </p:txBody>
      </p:sp>
      <p:sp>
        <p:nvSpPr>
          <p:cNvPr id="9" name="Shape 6"/>
          <p:cNvSpPr/>
          <p:nvPr/>
        </p:nvSpPr>
        <p:spPr>
          <a:xfrm>
            <a:off x="7132340" y="1689050"/>
            <a:ext cx="4246860" cy="4152950"/>
          </a:xfrm>
          <a:prstGeom prst="roundRect">
            <a:avLst>
              <a:gd name="adj" fmla="val 3058"/>
            </a:avLst>
          </a:prstGeom>
          <a:solidFill>
            <a:srgbClr val="2A3040"/>
          </a:solidFill>
        </p:spPr>
      </p:sp>
      <p:sp>
        <p:nvSpPr>
          <p:cNvPr id="10" name="Text 7"/>
          <p:cNvSpPr/>
          <p:nvPr/>
        </p:nvSpPr>
        <p:spPr>
          <a:xfrm>
            <a:off x="7386340" y="1943050"/>
            <a:ext cx="3851026" cy="29969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08A8D"/>
                </a:solidFill>
                <a:latin typeface="Public Sans" pitchFamily="34" charset="0"/>
                <a:ea typeface="Public Sans" pitchFamily="34" charset="-122"/>
                <a:cs typeface="Public Sans" pitchFamily="34" charset="-120"/>
              </a:rPr>
              <a:t>Future scope</a:t>
            </a:r>
            <a:endParaRPr lang="en-US" sz="1800" dirty="0"/>
          </a:p>
        </p:txBody>
      </p:sp>
      <p:sp>
        <p:nvSpPr>
          <p:cNvPr id="11" name="Text 8"/>
          <p:cNvSpPr/>
          <p:nvPr/>
        </p:nvSpPr>
        <p:spPr>
          <a:xfrm>
            <a:off x="7386340" y="2344341"/>
            <a:ext cx="3851026" cy="1168400"/>
          </a:xfrm>
          <a:prstGeom prst="rect">
            <a:avLst/>
          </a:prstGeom>
          <a:noFill/>
        </p:spPr>
        <p:txBody>
          <a:bodyPr wrap="square" lIns="0" tIns="0" rIns="0" bIns="0" rtlCol="0" anchor="t">
            <a:normAutofit/>
          </a:bodyPr>
          <a:lstStyle/>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Online payment gateway</a:t>
            </a:r>
            <a:endParaRPr lang="en-US" sz="1500" dirty="0"/>
          </a:p>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Push alerts when an order is ready</a:t>
            </a:r>
            <a:endParaRPr lang="en-US" sz="1500" dirty="0"/>
          </a:p>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Demand analytics for canteen planning</a:t>
            </a:r>
            <a:endParaRPr lang="en-US" sz="1500" dirty="0"/>
          </a:p>
          <a:p>
            <a:pPr marL="228600" indent="-170180" algn="l">
              <a:lnSpc>
                <a:spcPts val="2250"/>
              </a:lnSpc>
              <a:buSzPct val="100000"/>
              <a:buChar char="•"/>
            </a:pPr>
            <a:r>
              <a:rPr lang="en-US" sz="1500" dirty="0">
                <a:solidFill>
                  <a:srgbClr val="E6E0D9"/>
                </a:solidFill>
                <a:latin typeface="Public Sans" pitchFamily="34" charset="0"/>
                <a:ea typeface="Public Sans" pitchFamily="34" charset="-122"/>
                <a:cs typeface="Public Sans" pitchFamily="34" charset="-120"/>
              </a:rPr>
              <a:t>Installable mobile app (PWA)</a:t>
            </a:r>
            <a:endParaRPr lang="en-US" sz="1500" dirty="0"/>
          </a:p>
        </p:txBody>
      </p:sp>
      <p:sp>
        <p:nvSpPr>
          <p:cNvPr id="12" name="Text 9"/>
          <p:cNvSpPr/>
          <p:nvPr/>
        </p:nvSpPr>
        <p:spPr>
          <a:xfrm>
            <a:off x="812800" y="6238280"/>
            <a:ext cx="850265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C9C3BC"/>
                </a:solidFill>
                <a:latin typeface="Public Sans" pitchFamily="34" charset="0"/>
                <a:ea typeface="Public Sans" pitchFamily="34" charset="-122"/>
                <a:cs typeface="Public Sans" pitchFamily="34" charset="-120"/>
              </a:rPr>
              <a:t>KLH Deemed to be University · College Canteen Pre-Ordering · SOA Project Review</a:t>
            </a:r>
            <a:endParaRPr lang="en-US" sz="1200" dirty="0"/>
          </a:p>
        </p:txBody>
      </p:sp>
      <p:sp>
        <p:nvSpPr>
          <p:cNvPr id="13" name="Text 10"/>
          <p:cNvSpPr/>
          <p:nvPr/>
        </p:nvSpPr>
        <p:spPr>
          <a:xfrm>
            <a:off x="10058400" y="6238280"/>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C9C3BC"/>
                </a:solidFill>
                <a:latin typeface="Public Sans" pitchFamily="34" charset="0"/>
                <a:ea typeface="Public Sans" pitchFamily="34" charset="-122"/>
                <a:cs typeface="Public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College Canteen Pre-Ordering Review">
  <a:themeElements>
    <a:clrScheme name="College Canteen Pre-Ordering Review">
      <a:dk1>
        <a:srgbClr val="1F2430"/>
      </a:dk1>
      <a:lt1>
        <a:srgbClr val="FAF7F4"/>
      </a:lt1>
      <a:dk2>
        <a:srgbClr val="565961"/>
      </a:dk2>
      <a:lt2>
        <a:srgbClr val="E4E2E0"/>
      </a:lt2>
      <a:accent1>
        <a:srgbClr val="B30D12"/>
      </a:accent1>
      <a:accent2>
        <a:srgbClr val="0E7C86"/>
      </a:accent2>
      <a:accent3>
        <a:srgbClr val="F08A8D"/>
      </a:accent3>
      <a:accent4>
        <a:srgbClr val="4A5160"/>
      </a:accent4>
      <a:accent5>
        <a:srgbClr val="666C78"/>
      </a:accent5>
      <a:accent6>
        <a:srgbClr val="343B4C"/>
      </a:accent6>
      <a:hlink>
        <a:srgbClr val="0563C1"/>
      </a:hlink>
      <a:folHlink>
        <a:srgbClr val="954F72"/>
      </a:folHlink>
    </a:clrScheme>
    <a:fontScheme name="College Canteen Pre-Ordering Review">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llege Canteen Pre-Ordering Review">
  <a:themeElements>
    <a:clrScheme name="College Canteen Pre-Ordering Review">
      <a:dk1>
        <a:srgbClr val="1F2430"/>
      </a:dk1>
      <a:lt1>
        <a:srgbClr val="FAF7F4"/>
      </a:lt1>
      <a:dk2>
        <a:srgbClr val="565961"/>
      </a:dk2>
      <a:lt2>
        <a:srgbClr val="E4E2E0"/>
      </a:lt2>
      <a:accent1>
        <a:srgbClr val="B30D12"/>
      </a:accent1>
      <a:accent2>
        <a:srgbClr val="0E7C86"/>
      </a:accent2>
      <a:accent3>
        <a:srgbClr val="F08A8D"/>
      </a:accent3>
      <a:accent4>
        <a:srgbClr val="4A5160"/>
      </a:accent4>
      <a:accent5>
        <a:srgbClr val="666C78"/>
      </a:accent5>
      <a:accent6>
        <a:srgbClr val="343B4C"/>
      </a:accent6>
      <a:hlink>
        <a:srgbClr val="0563C1"/>
      </a:hlink>
      <a:folHlink>
        <a:srgbClr val="954F72"/>
      </a:folHlink>
    </a:clrScheme>
    <a:fontScheme name="College Canteen Pre-Ordering Review">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6716</Words>
  <Application>WPS Presentation</Application>
  <PresentationFormat>On-screen Show (16:9)</PresentationFormat>
  <Paragraphs>549</Paragraphs>
  <Slides>13</Slides>
  <Notes>13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13</vt:i4>
      </vt:variant>
    </vt:vector>
  </HeadingPairs>
  <TitlesOfParts>
    <vt:vector size="30" baseType="lpstr">
      <vt:lpstr>Arial</vt:lpstr>
      <vt:lpstr>SimSun</vt:lpstr>
      <vt:lpstr>Wingdings</vt:lpstr>
      <vt:lpstr>Libre Baskerville</vt:lpstr>
      <vt:lpstr>苹方-简</vt:lpstr>
      <vt:lpstr>Libre Baskerville</vt:lpstr>
      <vt:lpstr>宋体-简</vt:lpstr>
      <vt:lpstr>Libre Baskerville</vt:lpstr>
      <vt:lpstr>Public Sans</vt:lpstr>
      <vt:lpstr>Public Sans</vt:lpstr>
      <vt:lpstr>Public Sans</vt:lpstr>
      <vt:lpstr>Microsoft YaHei</vt:lpstr>
      <vt:lpstr>汉仪旗黑</vt:lpstr>
      <vt:lpstr>Arial Unicode MS</vt:lpstr>
      <vt:lpstr>Calibri</vt:lpstr>
      <vt:lpstr>Helvetica Neue</vt:lpstr>
      <vt:lpstr>College Canteen Pre-Ordering Review</vt:lpstr>
      <vt:lpstr>Web Application</vt:lpstr>
      <vt:lpstr>Three parts of this review</vt:lpstr>
      <vt:lpstr>System architecture</vt:lpstr>
      <vt:lpstr>Four user roles</vt:lpstr>
      <vt:lpstr>Order lifecycle</vt:lpstr>
      <vt:lpstr>Data model</vt:lpstr>
      <vt:lpstr>Iterative, phased development plan</vt:lpstr>
      <vt:lpstr>Engineering practices by phase</vt:lpstr>
      <vt:lpstr>Realtime order flow and stock safety</vt:lpstr>
      <vt:lpstr>Design decisions against risks</vt:lpstr>
      <vt:lpstr>Security model: signed pickup tokens</vt:lpstr>
      <vt:lpstr>Verified results</vt:lpstr>
      <vt:lpstr>Conclusion and future scope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Canteen Pre-Ordering Review</dc:title>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somapujith</cp:lastModifiedBy>
  <cp:revision>2</cp:revision>
  <dcterms:created xsi:type="dcterms:W3CDTF">2026-10-27T05:38:25Z</dcterms:created>
  <dcterms:modified xsi:type="dcterms:W3CDTF">2026-10-27T05:38:25Z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1033-12.1.29182.29182</vt:lpwstr>
  </property>
  <property fmtid="{D5CDD505-2E9C-101B-9397-08002B2CF9AE}" pid="3" name="ICV">
    <vt:lpwstr>A2CADAB19EAAF99DD138E06A02F1118C_42</vt:lpwstr>
  </property>
</Properties>
</file>